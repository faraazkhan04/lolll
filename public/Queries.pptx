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3" r:id="rId9"/>
    <p:sldId id="264" r:id="rId10"/>
    <p:sldId id="262" r:id="rId11"/>
    <p:sldId id="279" r:id="rId12"/>
    <p:sldId id="268" r:id="rId13"/>
    <p:sldId id="280" r:id="rId14"/>
    <p:sldId id="281" r:id="rId15"/>
    <p:sldId id="282" r:id="rId16"/>
    <p:sldId id="266" r:id="rId17"/>
    <p:sldId id="267" r:id="rId18"/>
    <p:sldId id="269" r:id="rId19"/>
    <p:sldId id="270" r:id="rId20"/>
    <p:sldId id="271" r:id="rId21"/>
    <p:sldId id="272" r:id="rId22"/>
    <p:sldId id="273" r:id="rId23"/>
    <p:sldId id="286" r:id="rId24"/>
    <p:sldId id="287" r:id="rId25"/>
    <p:sldId id="274" r:id="rId26"/>
    <p:sldId id="275" r:id="rId27"/>
    <p:sldId id="276" r:id="rId28"/>
    <p:sldId id="277" r:id="rId29"/>
    <p:sldId id="278" r:id="rId30"/>
    <p:sldId id="283" r:id="rId31"/>
    <p:sldId id="284" r:id="rId32"/>
    <p:sldId id="285"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60"/>
  </p:normalViewPr>
  <p:slideViewPr>
    <p:cSldViewPr snapToGrid="0">
      <p:cViewPr varScale="1">
        <p:scale>
          <a:sx n="61" d="100"/>
          <a:sy n="61" d="100"/>
        </p:scale>
        <p:origin x="8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7D98-EC12-ACE9-CD69-CA9E0592A8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3E723E-0959-BC74-4305-720CE0E7C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DF17E9-653B-8BB4-DB2C-C5A075A9D502}"/>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5" name="Footer Placeholder 4">
            <a:extLst>
              <a:ext uri="{FF2B5EF4-FFF2-40B4-BE49-F238E27FC236}">
                <a16:creationId xmlns:a16="http://schemas.microsoft.com/office/drawing/2014/main" id="{7FEF76B0-2C34-B40A-32BE-8394943B73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E23BB-C574-FE64-4F95-D1FC23EB4164}"/>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785274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4A1B9-CA88-2661-4A9C-9F447D2798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71724E-CEA6-A302-6F16-CEFF6F41D8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1B60E3-C2C2-55C7-FDF1-6D1047F3A527}"/>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5" name="Footer Placeholder 4">
            <a:extLst>
              <a:ext uri="{FF2B5EF4-FFF2-40B4-BE49-F238E27FC236}">
                <a16:creationId xmlns:a16="http://schemas.microsoft.com/office/drawing/2014/main" id="{60A69CE7-FE76-73FE-ACDF-FFA0632F0A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241D53-0D93-FB94-E58D-79478BD14DBF}"/>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322114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097CF-9934-4CE3-DED2-AE6E927254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91101E-6D42-3084-427A-8A71462578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55F9A6-5701-943C-1618-A186E603FCBC}"/>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5" name="Footer Placeholder 4">
            <a:extLst>
              <a:ext uri="{FF2B5EF4-FFF2-40B4-BE49-F238E27FC236}">
                <a16:creationId xmlns:a16="http://schemas.microsoft.com/office/drawing/2014/main" id="{D820A0F9-E5DD-0F64-0CAE-8FBF2FFB2C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AAF9AA-D841-0131-8539-312F279364A5}"/>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262822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0BFFC-BCF1-D9DC-CE31-A25B7C109D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A9A63D-6F6F-2E50-C5EB-2960222494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7882B1-84FB-0723-6A87-5AEAAE48B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DC651E-D99B-6C66-5866-6523C318F89A}"/>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6" name="Footer Placeholder 5">
            <a:extLst>
              <a:ext uri="{FF2B5EF4-FFF2-40B4-BE49-F238E27FC236}">
                <a16:creationId xmlns:a16="http://schemas.microsoft.com/office/drawing/2014/main" id="{B783CDC5-5EFA-959E-CE1A-531E01FBA7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FE24CC-43D2-1D43-DF7C-57EF301A2D07}"/>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3912931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7BAC-B07F-754D-99ED-196F10E973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CA293F-3CE0-630B-0FF4-21D629839C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9C7191-F7BF-905F-2C08-FD778F617E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0A4FE7-E167-CC49-2ED5-65BBF9C213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35A2E0-C15F-73E8-5654-DDD4346A0E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268E2A-8F17-4358-BF5E-DF6FE273EA60}"/>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8" name="Footer Placeholder 7">
            <a:extLst>
              <a:ext uri="{FF2B5EF4-FFF2-40B4-BE49-F238E27FC236}">
                <a16:creationId xmlns:a16="http://schemas.microsoft.com/office/drawing/2014/main" id="{5DB69D99-AD5A-C38B-5BDC-17F9E190F1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E23E99-2CE1-6868-422E-16D30D6D40C4}"/>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2979533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A3A2-1E0E-112D-D64E-717FADF4F0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B610CB-8F19-FF67-5478-FEF77B8DDB67}"/>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4" name="Footer Placeholder 3">
            <a:extLst>
              <a:ext uri="{FF2B5EF4-FFF2-40B4-BE49-F238E27FC236}">
                <a16:creationId xmlns:a16="http://schemas.microsoft.com/office/drawing/2014/main" id="{558E1C33-2D24-27F3-6E00-BABF03332E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EB9A7F-CE4E-A520-5CCF-B33A776D2F52}"/>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359837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46BBE-B9F1-DD34-A440-F9A8DA3BEF34}"/>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3" name="Footer Placeholder 2">
            <a:extLst>
              <a:ext uri="{FF2B5EF4-FFF2-40B4-BE49-F238E27FC236}">
                <a16:creationId xmlns:a16="http://schemas.microsoft.com/office/drawing/2014/main" id="{0F1EF8D5-E856-4A7B-B25F-9DA799370DD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93ADEA-CEEF-6599-51C1-8615067CAD8D}"/>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1528619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C0704-8D92-F6E3-5406-DDCE9214A2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ABD304D-DEC6-0046-F481-6959452BB4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C91664-050A-9270-50B4-A4C449201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457199-9673-4E68-9C74-58D8889FBB3C}"/>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6" name="Footer Placeholder 5">
            <a:extLst>
              <a:ext uri="{FF2B5EF4-FFF2-40B4-BE49-F238E27FC236}">
                <a16:creationId xmlns:a16="http://schemas.microsoft.com/office/drawing/2014/main" id="{88FF559D-3A39-17C2-6590-CF70481B2E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D1C151-AD09-90B3-DEAD-2CCE82BA5B5A}"/>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1928113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542B-2307-4494-B90A-1512998F3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B26FB6-0E2F-6CDC-EE66-BD2223AFDF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35FFBC-685A-4E53-D069-7860B5C6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D3338F-D303-DFE3-ACB2-8B81F8F7A432}"/>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6" name="Footer Placeholder 5">
            <a:extLst>
              <a:ext uri="{FF2B5EF4-FFF2-40B4-BE49-F238E27FC236}">
                <a16:creationId xmlns:a16="http://schemas.microsoft.com/office/drawing/2014/main" id="{D6F8975A-BC6D-F4CD-9DF5-F32B12DD0F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B21CE5-D4AC-3B54-6339-6DF9AE932439}"/>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2632123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E1B9B-85F7-512C-3472-6986135D87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142E81-4054-90EF-9D0A-9420169DFA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D87192-97BE-C438-FF08-52BCE9FF71A7}"/>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5" name="Footer Placeholder 4">
            <a:extLst>
              <a:ext uri="{FF2B5EF4-FFF2-40B4-BE49-F238E27FC236}">
                <a16:creationId xmlns:a16="http://schemas.microsoft.com/office/drawing/2014/main" id="{DD613796-7959-5A13-AFCE-9A0C578E42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2D8276-AB25-5D51-3CB1-37BEB4E84670}"/>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74598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F723D4-1CC5-D852-B89F-E0D1D7B4FD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AE5A9E-ACF2-E16A-E6B7-02FD57CF8A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19BFF3-710C-2909-E96B-1AC3A702C969}"/>
              </a:ext>
            </a:extLst>
          </p:cNvPr>
          <p:cNvSpPr>
            <a:spLocks noGrp="1"/>
          </p:cNvSpPr>
          <p:nvPr>
            <p:ph type="dt" sz="half" idx="10"/>
          </p:nvPr>
        </p:nvSpPr>
        <p:spPr/>
        <p:txBody>
          <a:bodyPr/>
          <a:lstStyle/>
          <a:p>
            <a:fld id="{9DB32CED-4E58-4926-AAD8-BCB4645ACC9F}" type="datetimeFigureOut">
              <a:rPr lang="en-IN" smtClean="0"/>
              <a:t>20-03-2025</a:t>
            </a:fld>
            <a:endParaRPr lang="en-IN"/>
          </a:p>
        </p:txBody>
      </p:sp>
      <p:sp>
        <p:nvSpPr>
          <p:cNvPr id="5" name="Footer Placeholder 4">
            <a:extLst>
              <a:ext uri="{FF2B5EF4-FFF2-40B4-BE49-F238E27FC236}">
                <a16:creationId xmlns:a16="http://schemas.microsoft.com/office/drawing/2014/main" id="{A9DB7B74-9C3A-8D24-F814-6B00F6FAC3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E91E14-0B69-0C04-0962-375F5FB5E333}"/>
              </a:ext>
            </a:extLst>
          </p:cNvPr>
          <p:cNvSpPr>
            <a:spLocks noGrp="1"/>
          </p:cNvSpPr>
          <p:nvPr>
            <p:ph type="sldNum" sz="quarter" idx="12"/>
          </p:nvPr>
        </p:nvSpPr>
        <p:spPr/>
        <p:txBody>
          <a:bodyPr/>
          <a:lstStyle/>
          <a:p>
            <a:fld id="{F617ED33-CE90-4AEA-99E8-BCD315F38F86}" type="slidenum">
              <a:rPr lang="en-IN" smtClean="0"/>
              <a:t>‹#›</a:t>
            </a:fld>
            <a:endParaRPr lang="en-IN"/>
          </a:p>
        </p:txBody>
      </p:sp>
    </p:spTree>
    <p:extLst>
      <p:ext uri="{BB962C8B-B14F-4D97-AF65-F5344CB8AC3E}">
        <p14:creationId xmlns:p14="http://schemas.microsoft.com/office/powerpoint/2010/main" val="1839788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BFB784-8840-6C27-0917-E70F598241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81FEFD-EA39-0CFC-CD5E-EF81EAEAB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182731-F249-A4BA-C53A-7005F881FB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32CED-4E58-4926-AAD8-BCB4645ACC9F}" type="datetimeFigureOut">
              <a:rPr lang="en-IN" smtClean="0"/>
              <a:t>20-03-2025</a:t>
            </a:fld>
            <a:endParaRPr lang="en-IN"/>
          </a:p>
        </p:txBody>
      </p:sp>
      <p:sp>
        <p:nvSpPr>
          <p:cNvPr id="5" name="Footer Placeholder 4">
            <a:extLst>
              <a:ext uri="{FF2B5EF4-FFF2-40B4-BE49-F238E27FC236}">
                <a16:creationId xmlns:a16="http://schemas.microsoft.com/office/drawing/2014/main" id="{094ACA72-AA93-96A8-08F3-7F6DB9B674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53088D9-7401-045A-276D-159E4FDA86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17ED33-CE90-4AEA-99E8-BCD315F38F86}" type="slidenum">
              <a:rPr lang="en-IN" smtClean="0"/>
              <a:t>‹#›</a:t>
            </a:fld>
            <a:endParaRPr lang="en-IN"/>
          </a:p>
        </p:txBody>
      </p:sp>
    </p:spTree>
    <p:extLst>
      <p:ext uri="{BB962C8B-B14F-4D97-AF65-F5344CB8AC3E}">
        <p14:creationId xmlns:p14="http://schemas.microsoft.com/office/powerpoint/2010/main" val="1868361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tuple-in-dbm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0EE7-4D87-6C45-86B6-D199BCF47F44}"/>
              </a:ext>
            </a:extLst>
          </p:cNvPr>
          <p:cNvSpPr>
            <a:spLocks noGrp="1"/>
          </p:cNvSpPr>
          <p:nvPr>
            <p:ph type="ctrTitle"/>
          </p:nvPr>
        </p:nvSpPr>
        <p:spPr/>
        <p:txBody>
          <a:bodyPr/>
          <a:lstStyle/>
          <a:p>
            <a:r>
              <a:rPr lang="en-US" dirty="0"/>
              <a:t>Basic SQL Queries</a:t>
            </a:r>
            <a:endParaRPr lang="en-IN" dirty="0"/>
          </a:p>
        </p:txBody>
      </p:sp>
      <p:sp>
        <p:nvSpPr>
          <p:cNvPr id="3" name="Subtitle 2">
            <a:extLst>
              <a:ext uri="{FF2B5EF4-FFF2-40B4-BE49-F238E27FC236}">
                <a16:creationId xmlns:a16="http://schemas.microsoft.com/office/drawing/2014/main" id="{D0A976B6-E9E2-284B-02FD-98E84BD13CA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10222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1EB0F-D262-BE96-3EF0-1061DA0EA821}"/>
              </a:ext>
            </a:extLst>
          </p:cNvPr>
          <p:cNvSpPr>
            <a:spLocks noGrp="1"/>
          </p:cNvSpPr>
          <p:nvPr>
            <p:ph type="title"/>
          </p:nvPr>
        </p:nvSpPr>
        <p:spPr/>
        <p:txBody>
          <a:bodyPr/>
          <a:lstStyle/>
          <a:p>
            <a:r>
              <a:rPr lang="en-US" dirty="0"/>
              <a:t>Data-types  based SQL Queries:</a:t>
            </a:r>
            <a:br>
              <a:rPr lang="en-US" dirty="0"/>
            </a:br>
            <a:r>
              <a:rPr lang="en-US" dirty="0"/>
              <a:t>int, number, integer, </a:t>
            </a:r>
            <a:r>
              <a:rPr lang="en-US" dirty="0" err="1"/>
              <a:t>smallint</a:t>
            </a:r>
            <a:r>
              <a:rPr lang="en-US" dirty="0"/>
              <a:t>, float, decimal</a:t>
            </a:r>
            <a:endParaRPr lang="en-IN" dirty="0"/>
          </a:p>
        </p:txBody>
      </p:sp>
      <p:sp>
        <p:nvSpPr>
          <p:cNvPr id="3" name="Content Placeholder 2">
            <a:extLst>
              <a:ext uri="{FF2B5EF4-FFF2-40B4-BE49-F238E27FC236}">
                <a16:creationId xmlns:a16="http://schemas.microsoft.com/office/drawing/2014/main" id="{0F76CF07-F432-932F-1ECF-54FEF1E9ED2B}"/>
              </a:ext>
            </a:extLst>
          </p:cNvPr>
          <p:cNvSpPr>
            <a:spLocks noGrp="1"/>
          </p:cNvSpPr>
          <p:nvPr>
            <p:ph idx="1"/>
          </p:nvPr>
        </p:nvSpPr>
        <p:spPr/>
        <p:txBody>
          <a:bodyPr/>
          <a:lstStyle/>
          <a:p>
            <a:r>
              <a:rPr lang="en-IN" dirty="0"/>
              <a:t>create table e1(no int, grade float);</a:t>
            </a:r>
          </a:p>
          <a:p>
            <a:r>
              <a:rPr lang="en-IN" dirty="0"/>
              <a:t>create table e1(no integer, grade float);</a:t>
            </a:r>
          </a:p>
          <a:p>
            <a:r>
              <a:rPr lang="en-US" dirty="0"/>
              <a:t>create table e1(no </a:t>
            </a:r>
            <a:r>
              <a:rPr lang="en-US" dirty="0" err="1"/>
              <a:t>smallint</a:t>
            </a:r>
            <a:r>
              <a:rPr lang="en-US" dirty="0"/>
              <a:t>, grade float);</a:t>
            </a:r>
            <a:endParaRPr lang="en-IN" dirty="0"/>
          </a:p>
          <a:p>
            <a:r>
              <a:rPr lang="en-IN" dirty="0"/>
              <a:t>create table e1(no </a:t>
            </a:r>
            <a:r>
              <a:rPr lang="en-IN" dirty="0" err="1"/>
              <a:t>smallint</a:t>
            </a:r>
            <a:r>
              <a:rPr lang="en-IN" dirty="0"/>
              <a:t>, grade decimal(1,2));</a:t>
            </a:r>
          </a:p>
          <a:p>
            <a:r>
              <a:rPr lang="en-US" dirty="0"/>
              <a:t>create table e1(no </a:t>
            </a:r>
            <a:r>
              <a:rPr lang="en-US" dirty="0" err="1"/>
              <a:t>smallint</a:t>
            </a:r>
            <a:r>
              <a:rPr lang="en-US" dirty="0"/>
              <a:t>, grade numeric(1,2));</a:t>
            </a:r>
            <a:endParaRPr lang="en-IN" dirty="0"/>
          </a:p>
        </p:txBody>
      </p:sp>
    </p:spTree>
    <p:extLst>
      <p:ext uri="{BB962C8B-B14F-4D97-AF65-F5344CB8AC3E}">
        <p14:creationId xmlns:p14="http://schemas.microsoft.com/office/powerpoint/2010/main" val="120104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A67C-CE91-B472-FE54-D57C043AEC44}"/>
              </a:ext>
            </a:extLst>
          </p:cNvPr>
          <p:cNvSpPr>
            <a:spLocks noGrp="1"/>
          </p:cNvSpPr>
          <p:nvPr>
            <p:ph type="title"/>
          </p:nvPr>
        </p:nvSpPr>
        <p:spPr/>
        <p:txBody>
          <a:bodyPr/>
          <a:lstStyle/>
          <a:p>
            <a:r>
              <a:rPr lang="en-US" dirty="0"/>
              <a:t>Data-types  based SQL Queries: </a:t>
            </a:r>
            <a:br>
              <a:rPr lang="en-US" dirty="0"/>
            </a:br>
            <a:r>
              <a:rPr lang="en-US" dirty="0"/>
              <a:t>char, varchar, </a:t>
            </a:r>
            <a:r>
              <a:rPr lang="en-US" dirty="0" err="1"/>
              <a:t>clob</a:t>
            </a:r>
            <a:r>
              <a:rPr lang="en-US" dirty="0"/>
              <a:t>, raw, bit, blob</a:t>
            </a:r>
            <a:endParaRPr lang="en-IN" dirty="0"/>
          </a:p>
        </p:txBody>
      </p:sp>
      <p:sp>
        <p:nvSpPr>
          <p:cNvPr id="3" name="Content Placeholder 2">
            <a:extLst>
              <a:ext uri="{FF2B5EF4-FFF2-40B4-BE49-F238E27FC236}">
                <a16:creationId xmlns:a16="http://schemas.microsoft.com/office/drawing/2014/main" id="{434A6F67-8698-7917-E239-16D4727E4B2F}"/>
              </a:ext>
            </a:extLst>
          </p:cNvPr>
          <p:cNvSpPr>
            <a:spLocks noGrp="1"/>
          </p:cNvSpPr>
          <p:nvPr>
            <p:ph idx="1"/>
          </p:nvPr>
        </p:nvSpPr>
        <p:spPr/>
        <p:txBody>
          <a:bodyPr/>
          <a:lstStyle/>
          <a:p>
            <a:r>
              <a:rPr lang="en-US" dirty="0"/>
              <a:t>create table e1(</a:t>
            </a:r>
            <a:r>
              <a:rPr lang="en-US" dirty="0" err="1"/>
              <a:t>eno</a:t>
            </a:r>
            <a:r>
              <a:rPr lang="en-US" dirty="0"/>
              <a:t> int, name varchar(5));</a:t>
            </a:r>
          </a:p>
          <a:p>
            <a:r>
              <a:rPr lang="en-US" dirty="0"/>
              <a:t>create table e1(</a:t>
            </a:r>
            <a:r>
              <a:rPr lang="en-US" dirty="0" err="1"/>
              <a:t>eno</a:t>
            </a:r>
            <a:r>
              <a:rPr lang="en-US" dirty="0"/>
              <a:t> int, name char(5));</a:t>
            </a:r>
          </a:p>
          <a:p>
            <a:r>
              <a:rPr lang="en-US" dirty="0"/>
              <a:t>create table e1(</a:t>
            </a:r>
            <a:r>
              <a:rPr lang="en-US" dirty="0" err="1"/>
              <a:t>eno</a:t>
            </a:r>
            <a:r>
              <a:rPr lang="en-US" dirty="0"/>
              <a:t> int, name varchar(5), section char);</a:t>
            </a:r>
          </a:p>
          <a:p>
            <a:r>
              <a:rPr lang="en-US" dirty="0"/>
              <a:t>create table e1(</a:t>
            </a:r>
            <a:r>
              <a:rPr lang="en-US" dirty="0" err="1"/>
              <a:t>eno</a:t>
            </a:r>
            <a:r>
              <a:rPr lang="en-US" dirty="0"/>
              <a:t> int, name varchar(5), section char, details </a:t>
            </a:r>
            <a:r>
              <a:rPr lang="en-US" dirty="0" err="1"/>
              <a:t>clob</a:t>
            </a:r>
            <a:r>
              <a:rPr lang="en-US" dirty="0"/>
              <a:t>); </a:t>
            </a:r>
          </a:p>
          <a:p>
            <a:r>
              <a:rPr lang="en-US" dirty="0"/>
              <a:t>create table e1(no int, </a:t>
            </a:r>
            <a:r>
              <a:rPr lang="en-US" dirty="0" err="1"/>
              <a:t>bt</a:t>
            </a:r>
            <a:r>
              <a:rPr lang="en-US" dirty="0"/>
              <a:t> char(1) check (</a:t>
            </a:r>
            <a:r>
              <a:rPr lang="en-US" dirty="0" err="1"/>
              <a:t>bt</a:t>
            </a:r>
            <a:r>
              <a:rPr lang="en-US" dirty="0"/>
              <a:t>='1' or </a:t>
            </a:r>
            <a:r>
              <a:rPr lang="en-US" dirty="0" err="1"/>
              <a:t>bt</a:t>
            </a:r>
            <a:r>
              <a:rPr lang="en-US" dirty="0"/>
              <a:t>='0’));</a:t>
            </a:r>
          </a:p>
          <a:p>
            <a:r>
              <a:rPr lang="en-US" dirty="0"/>
              <a:t>The RAW datatype is used for binary data or byte strings that are not to be interpreted by Oracle, for example, to store graphics character sequences:</a:t>
            </a:r>
          </a:p>
          <a:p>
            <a:pPr lvl="1"/>
            <a:r>
              <a:rPr lang="en-US" dirty="0"/>
              <a:t>create table e1(no int,  </a:t>
            </a:r>
            <a:r>
              <a:rPr lang="en-US" dirty="0" err="1"/>
              <a:t>ig</a:t>
            </a:r>
            <a:r>
              <a:rPr lang="en-US" dirty="0"/>
              <a:t> raw(10)); </a:t>
            </a:r>
          </a:p>
          <a:p>
            <a:endParaRPr lang="en-US" dirty="0"/>
          </a:p>
          <a:p>
            <a:endParaRPr lang="en-US" dirty="0"/>
          </a:p>
          <a:p>
            <a:endParaRPr lang="en-IN" dirty="0"/>
          </a:p>
        </p:txBody>
      </p:sp>
    </p:spTree>
    <p:extLst>
      <p:ext uri="{BB962C8B-B14F-4D97-AF65-F5344CB8AC3E}">
        <p14:creationId xmlns:p14="http://schemas.microsoft.com/office/powerpoint/2010/main" val="2601557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58F7-A16E-817F-29DB-93FC06F28F6E}"/>
              </a:ext>
            </a:extLst>
          </p:cNvPr>
          <p:cNvSpPr>
            <a:spLocks noGrp="1"/>
          </p:cNvSpPr>
          <p:nvPr>
            <p:ph type="title"/>
          </p:nvPr>
        </p:nvSpPr>
        <p:spPr/>
        <p:txBody>
          <a:bodyPr/>
          <a:lstStyle/>
          <a:p>
            <a:r>
              <a:rPr lang="en-US" dirty="0"/>
              <a:t>Data-types  based SQL Queries:</a:t>
            </a:r>
            <a:br>
              <a:rPr lang="en-US" dirty="0"/>
            </a:br>
            <a:r>
              <a:rPr lang="en-US" dirty="0"/>
              <a:t>date, timestamp, time interval</a:t>
            </a:r>
            <a:endParaRPr lang="en-IN" dirty="0"/>
          </a:p>
        </p:txBody>
      </p:sp>
      <p:sp>
        <p:nvSpPr>
          <p:cNvPr id="3" name="Content Placeholder 2">
            <a:extLst>
              <a:ext uri="{FF2B5EF4-FFF2-40B4-BE49-F238E27FC236}">
                <a16:creationId xmlns:a16="http://schemas.microsoft.com/office/drawing/2014/main" id="{BBE0F51B-6322-4543-7E5C-985E149357A6}"/>
              </a:ext>
            </a:extLst>
          </p:cNvPr>
          <p:cNvSpPr>
            <a:spLocks noGrp="1"/>
          </p:cNvSpPr>
          <p:nvPr>
            <p:ph idx="1"/>
          </p:nvPr>
        </p:nvSpPr>
        <p:spPr/>
        <p:txBody>
          <a:bodyPr/>
          <a:lstStyle/>
          <a:p>
            <a:r>
              <a:rPr lang="en-US" dirty="0"/>
              <a:t>create table e1(no int, d date);</a:t>
            </a:r>
          </a:p>
          <a:p>
            <a:r>
              <a:rPr lang="en-US" dirty="0"/>
              <a:t>insert into e1 values(10,'22/APR/2011’);</a:t>
            </a:r>
          </a:p>
          <a:p>
            <a:r>
              <a:rPr lang="en-US" dirty="0"/>
              <a:t>create table e1(no int,  d Date, t timestamp);</a:t>
            </a:r>
          </a:p>
          <a:p>
            <a:r>
              <a:rPr lang="en-IN" dirty="0"/>
              <a:t>insert into e1 values(10,'10-APR-2011','10-APR-2011 10:30:00.123’);</a:t>
            </a:r>
            <a:endParaRPr lang="en-US" dirty="0"/>
          </a:p>
          <a:p>
            <a:r>
              <a:rPr lang="en-US" dirty="0"/>
              <a:t>insert into e1 values(20,'10-APR-2011',current_timestamp);</a:t>
            </a:r>
          </a:p>
          <a:p>
            <a:r>
              <a:rPr lang="en-US" dirty="0"/>
              <a:t>create table e1(no int, d date);</a:t>
            </a:r>
          </a:p>
          <a:p>
            <a:r>
              <a:rPr lang="en-US" dirty="0"/>
              <a:t>insert into e1 values(10,'10-APR-2011’);</a:t>
            </a:r>
          </a:p>
          <a:p>
            <a:r>
              <a:rPr lang="en-US" dirty="0"/>
              <a:t>select (d- interval '1' day) from e1;</a:t>
            </a:r>
            <a:endParaRPr lang="en-IN" dirty="0"/>
          </a:p>
        </p:txBody>
      </p:sp>
    </p:spTree>
    <p:extLst>
      <p:ext uri="{BB962C8B-B14F-4D97-AF65-F5344CB8AC3E}">
        <p14:creationId xmlns:p14="http://schemas.microsoft.com/office/powerpoint/2010/main" val="866973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AF95-9B71-8041-A02B-DC0BAB383F23}"/>
              </a:ext>
            </a:extLst>
          </p:cNvPr>
          <p:cNvSpPr>
            <a:spLocks noGrp="1"/>
          </p:cNvSpPr>
          <p:nvPr>
            <p:ph type="title"/>
          </p:nvPr>
        </p:nvSpPr>
        <p:spPr/>
        <p:txBody>
          <a:bodyPr>
            <a:normAutofit/>
          </a:bodyPr>
          <a:lstStyle/>
          <a:p>
            <a:r>
              <a:rPr lang="en-IN" sz="3200" b="1" i="0" u="none" strike="noStrike" baseline="0" dirty="0">
                <a:latin typeface="AkzidenzGroteskBE-Bold"/>
              </a:rPr>
              <a:t>Specifying Constraints in SQL statements</a:t>
            </a:r>
            <a:endParaRPr lang="en-IN" sz="3200" dirty="0"/>
          </a:p>
        </p:txBody>
      </p:sp>
      <p:sp>
        <p:nvSpPr>
          <p:cNvPr id="3" name="Content Placeholder 2">
            <a:extLst>
              <a:ext uri="{FF2B5EF4-FFF2-40B4-BE49-F238E27FC236}">
                <a16:creationId xmlns:a16="http://schemas.microsoft.com/office/drawing/2014/main" id="{161D4ED6-FF71-6491-D173-A5BB16A741E9}"/>
              </a:ext>
            </a:extLst>
          </p:cNvPr>
          <p:cNvSpPr>
            <a:spLocks noGrp="1"/>
          </p:cNvSpPr>
          <p:nvPr>
            <p:ph idx="1"/>
          </p:nvPr>
        </p:nvSpPr>
        <p:spPr/>
        <p:txBody>
          <a:bodyPr>
            <a:normAutofit/>
          </a:bodyPr>
          <a:lstStyle/>
          <a:p>
            <a:r>
              <a:rPr lang="en-US" dirty="0"/>
              <a:t>NOT NULL</a:t>
            </a:r>
          </a:p>
          <a:p>
            <a:r>
              <a:rPr lang="en-US" dirty="0"/>
              <a:t>Default</a:t>
            </a:r>
          </a:p>
          <a:p>
            <a:r>
              <a:rPr lang="en-US" dirty="0"/>
              <a:t>Check</a:t>
            </a:r>
          </a:p>
          <a:p>
            <a:r>
              <a:rPr lang="en-US" dirty="0"/>
              <a:t>Primary key</a:t>
            </a:r>
          </a:p>
          <a:p>
            <a:r>
              <a:rPr lang="en-US" dirty="0"/>
              <a:t>Foreign key</a:t>
            </a:r>
          </a:p>
          <a:p>
            <a:endParaRPr lang="en-US" dirty="0"/>
          </a:p>
          <a:p>
            <a:endParaRPr lang="en-US" dirty="0"/>
          </a:p>
        </p:txBody>
      </p:sp>
    </p:spTree>
    <p:extLst>
      <p:ext uri="{BB962C8B-B14F-4D97-AF65-F5344CB8AC3E}">
        <p14:creationId xmlns:p14="http://schemas.microsoft.com/office/powerpoint/2010/main" val="1750473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99E3-0CC4-DCF0-1028-90DBB170323E}"/>
              </a:ext>
            </a:extLst>
          </p:cNvPr>
          <p:cNvSpPr>
            <a:spLocks noGrp="1"/>
          </p:cNvSpPr>
          <p:nvPr>
            <p:ph type="title"/>
          </p:nvPr>
        </p:nvSpPr>
        <p:spPr/>
        <p:txBody>
          <a:bodyPr/>
          <a:lstStyle/>
          <a:p>
            <a:r>
              <a:rPr lang="en-US" dirty="0"/>
              <a:t>Constraints in Create statement</a:t>
            </a:r>
            <a:endParaRPr lang="en-IN" dirty="0"/>
          </a:p>
        </p:txBody>
      </p:sp>
      <p:sp>
        <p:nvSpPr>
          <p:cNvPr id="3" name="Content Placeholder 2">
            <a:extLst>
              <a:ext uri="{FF2B5EF4-FFF2-40B4-BE49-F238E27FC236}">
                <a16:creationId xmlns:a16="http://schemas.microsoft.com/office/drawing/2014/main" id="{5515BFB4-C860-B5A5-C164-1E9EBAB8BDF9}"/>
              </a:ext>
            </a:extLst>
          </p:cNvPr>
          <p:cNvSpPr>
            <a:spLocks noGrp="1"/>
          </p:cNvSpPr>
          <p:nvPr>
            <p:ph idx="1"/>
          </p:nvPr>
        </p:nvSpPr>
        <p:spPr/>
        <p:txBody>
          <a:bodyPr/>
          <a:lstStyle/>
          <a:p>
            <a:r>
              <a:rPr lang="en-US" dirty="0"/>
              <a:t>create table e2(no int primary key, name char(10) not null, age int check(age&gt;20 and age&lt;60));</a:t>
            </a:r>
          </a:p>
          <a:p>
            <a:r>
              <a:rPr lang="en-US" dirty="0"/>
              <a:t>create table e3(no int primary key, name char(10) not null, age int default 20 check(age&gt;20 and age&lt;60));</a:t>
            </a:r>
            <a:endParaRPr lang="en-IN" dirty="0"/>
          </a:p>
          <a:p>
            <a:endParaRPr lang="en-IN" dirty="0"/>
          </a:p>
        </p:txBody>
      </p:sp>
    </p:spTree>
    <p:extLst>
      <p:ext uri="{BB962C8B-B14F-4D97-AF65-F5344CB8AC3E}">
        <p14:creationId xmlns:p14="http://schemas.microsoft.com/office/powerpoint/2010/main" val="539882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588DA-BE75-5FE6-F903-FFB329284D24}"/>
              </a:ext>
            </a:extLst>
          </p:cNvPr>
          <p:cNvSpPr>
            <a:spLocks noGrp="1"/>
          </p:cNvSpPr>
          <p:nvPr>
            <p:ph type="title"/>
          </p:nvPr>
        </p:nvSpPr>
        <p:spPr/>
        <p:txBody>
          <a:bodyPr/>
          <a:lstStyle/>
          <a:p>
            <a:r>
              <a:rPr lang="en-US" dirty="0"/>
              <a:t>On delete set null, on delete set default, on update cascade</a:t>
            </a:r>
            <a:endParaRPr lang="en-IN" dirty="0"/>
          </a:p>
        </p:txBody>
      </p:sp>
      <p:sp>
        <p:nvSpPr>
          <p:cNvPr id="3" name="Content Placeholder 2">
            <a:extLst>
              <a:ext uri="{FF2B5EF4-FFF2-40B4-BE49-F238E27FC236}">
                <a16:creationId xmlns:a16="http://schemas.microsoft.com/office/drawing/2014/main" id="{54DF32D1-4DC8-0BA4-4975-0EA29A0182F9}"/>
              </a:ext>
            </a:extLst>
          </p:cNvPr>
          <p:cNvSpPr>
            <a:spLocks noGrp="1"/>
          </p:cNvSpPr>
          <p:nvPr>
            <p:ph idx="1"/>
          </p:nvPr>
        </p:nvSpPr>
        <p:spPr/>
        <p:txBody>
          <a:bodyPr>
            <a:normAutofit fontScale="70000" lnSpcReduction="20000"/>
          </a:bodyPr>
          <a:lstStyle/>
          <a:p>
            <a:r>
              <a:rPr lang="en-US" dirty="0"/>
              <a:t>create table e1(</a:t>
            </a:r>
            <a:r>
              <a:rPr lang="en-US" dirty="0" err="1"/>
              <a:t>ssn</a:t>
            </a:r>
            <a:r>
              <a:rPr lang="en-US" dirty="0"/>
              <a:t> int primary key, name varchar(10));</a:t>
            </a:r>
          </a:p>
          <a:p>
            <a:r>
              <a:rPr lang="en-US" dirty="0"/>
              <a:t>insert into e1 values (10, '</a:t>
            </a:r>
            <a:r>
              <a:rPr lang="en-US" dirty="0" err="1"/>
              <a:t>abc</a:t>
            </a:r>
            <a:r>
              <a:rPr lang="en-US" dirty="0"/>
              <a:t>’);</a:t>
            </a:r>
          </a:p>
          <a:p>
            <a:r>
              <a:rPr lang="en-US" dirty="0"/>
              <a:t>create table d1 (</a:t>
            </a:r>
            <a:r>
              <a:rPr lang="en-US" dirty="0" err="1"/>
              <a:t>dno</a:t>
            </a:r>
            <a:r>
              <a:rPr lang="en-US" dirty="0"/>
              <a:t> int primary key, </a:t>
            </a:r>
            <a:r>
              <a:rPr lang="en-US" dirty="0" err="1"/>
              <a:t>mno</a:t>
            </a:r>
            <a:r>
              <a:rPr lang="en-US" dirty="0"/>
              <a:t> int not null, </a:t>
            </a:r>
            <a:r>
              <a:rPr lang="en-US" dirty="0" err="1"/>
              <a:t>mssn</a:t>
            </a:r>
            <a:r>
              <a:rPr lang="en-US" dirty="0"/>
              <a:t> int default 1, foreign key(</a:t>
            </a:r>
            <a:r>
              <a:rPr lang="en-US" dirty="0" err="1"/>
              <a:t>mssn</a:t>
            </a:r>
            <a:r>
              <a:rPr lang="en-US" dirty="0"/>
              <a:t>) references e1(</a:t>
            </a:r>
            <a:r>
              <a:rPr lang="en-US" dirty="0" err="1"/>
              <a:t>ssn</a:t>
            </a:r>
            <a:r>
              <a:rPr lang="en-US" dirty="0"/>
              <a:t>) );</a:t>
            </a:r>
          </a:p>
          <a:p>
            <a:r>
              <a:rPr lang="en-IN" dirty="0"/>
              <a:t>create table d2 (</a:t>
            </a:r>
            <a:r>
              <a:rPr lang="en-IN" dirty="0" err="1"/>
              <a:t>dno</a:t>
            </a:r>
            <a:r>
              <a:rPr lang="en-IN" dirty="0"/>
              <a:t> int primary key, </a:t>
            </a:r>
            <a:r>
              <a:rPr lang="en-IN" dirty="0" err="1"/>
              <a:t>mno</a:t>
            </a:r>
            <a:r>
              <a:rPr lang="en-IN" dirty="0"/>
              <a:t> int not null, </a:t>
            </a:r>
            <a:r>
              <a:rPr lang="en-IN" dirty="0" err="1"/>
              <a:t>mssn</a:t>
            </a:r>
            <a:r>
              <a:rPr lang="en-IN" dirty="0"/>
              <a:t> int default 1, foreign key(</a:t>
            </a:r>
            <a:r>
              <a:rPr lang="en-IN" dirty="0" err="1"/>
              <a:t>mssn</a:t>
            </a:r>
            <a:r>
              <a:rPr lang="en-IN" dirty="0"/>
              <a:t>) references e1(</a:t>
            </a:r>
            <a:r>
              <a:rPr lang="en-IN" dirty="0" err="1"/>
              <a:t>ssn</a:t>
            </a:r>
            <a:r>
              <a:rPr lang="en-IN" dirty="0"/>
              <a:t>) on delete set null);</a:t>
            </a:r>
            <a:endParaRPr lang="en-US" dirty="0"/>
          </a:p>
          <a:p>
            <a:r>
              <a:rPr lang="en-IN" dirty="0"/>
              <a:t>select * from e1;</a:t>
            </a:r>
            <a:endParaRPr lang="en-US" dirty="0"/>
          </a:p>
          <a:p>
            <a:r>
              <a:rPr lang="en-US" dirty="0"/>
              <a:t>delete from e1 where </a:t>
            </a:r>
            <a:r>
              <a:rPr lang="en-US" dirty="0" err="1"/>
              <a:t>ssn</a:t>
            </a:r>
            <a:r>
              <a:rPr lang="en-US" dirty="0"/>
              <a:t>=10;</a:t>
            </a:r>
          </a:p>
          <a:p>
            <a:r>
              <a:rPr lang="en-IN" dirty="0"/>
              <a:t>select * from d2;</a:t>
            </a:r>
            <a:endParaRPr lang="en-US" dirty="0"/>
          </a:p>
          <a:p>
            <a:r>
              <a:rPr lang="pl-PL" dirty="0"/>
              <a:t>DNO        MNO       MSSN</a:t>
            </a:r>
          </a:p>
          <a:p>
            <a:r>
              <a:rPr lang="pl-PL" dirty="0"/>
              <a:t>---------- ---------- ----------</a:t>
            </a:r>
          </a:p>
          <a:p>
            <a:r>
              <a:rPr lang="pl-PL" dirty="0"/>
              <a:t>         1          1</a:t>
            </a:r>
          </a:p>
          <a:p>
            <a:r>
              <a:rPr lang="pl-PL" dirty="0"/>
              <a:t>         2          2         20</a:t>
            </a:r>
            <a:endParaRPr lang="en-IN" dirty="0"/>
          </a:p>
        </p:txBody>
      </p:sp>
    </p:spTree>
    <p:extLst>
      <p:ext uri="{BB962C8B-B14F-4D97-AF65-F5344CB8AC3E}">
        <p14:creationId xmlns:p14="http://schemas.microsoft.com/office/powerpoint/2010/main" val="717322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F56F7-214F-3452-322E-E11C0C97C220}"/>
              </a:ext>
            </a:extLst>
          </p:cNvPr>
          <p:cNvSpPr>
            <a:spLocks noGrp="1"/>
          </p:cNvSpPr>
          <p:nvPr>
            <p:ph type="title"/>
          </p:nvPr>
        </p:nvSpPr>
        <p:spPr/>
        <p:txBody>
          <a:bodyPr/>
          <a:lstStyle/>
          <a:p>
            <a:r>
              <a:rPr lang="en-US" dirty="0"/>
              <a:t>Aggregate functions:</a:t>
            </a:r>
            <a:br>
              <a:rPr lang="en-US" dirty="0"/>
            </a:br>
            <a:r>
              <a:rPr lang="en-US" dirty="0"/>
              <a:t>max, min, avg, sum, count</a:t>
            </a:r>
            <a:endParaRPr lang="en-IN" dirty="0"/>
          </a:p>
        </p:txBody>
      </p:sp>
      <p:sp>
        <p:nvSpPr>
          <p:cNvPr id="3" name="Content Placeholder 2">
            <a:extLst>
              <a:ext uri="{FF2B5EF4-FFF2-40B4-BE49-F238E27FC236}">
                <a16:creationId xmlns:a16="http://schemas.microsoft.com/office/drawing/2014/main" id="{B380A57D-6DFF-6983-B918-C5B19E152EE0}"/>
              </a:ext>
            </a:extLst>
          </p:cNvPr>
          <p:cNvSpPr>
            <a:spLocks noGrp="1"/>
          </p:cNvSpPr>
          <p:nvPr>
            <p:ph idx="1"/>
          </p:nvPr>
        </p:nvSpPr>
        <p:spPr/>
        <p:txBody>
          <a:bodyPr/>
          <a:lstStyle/>
          <a:p>
            <a:r>
              <a:rPr lang="en-US" dirty="0"/>
              <a:t>select max(</a:t>
            </a:r>
            <a:r>
              <a:rPr lang="en-US" dirty="0" err="1"/>
              <a:t>sal</a:t>
            </a:r>
            <a:r>
              <a:rPr lang="en-US" dirty="0"/>
              <a:t>) from e5;</a:t>
            </a:r>
          </a:p>
          <a:p>
            <a:r>
              <a:rPr lang="en-US" dirty="0"/>
              <a:t>select min(</a:t>
            </a:r>
            <a:r>
              <a:rPr lang="en-US" dirty="0" err="1"/>
              <a:t>sal</a:t>
            </a:r>
            <a:r>
              <a:rPr lang="en-US" dirty="0"/>
              <a:t>) from e5;</a:t>
            </a:r>
          </a:p>
          <a:p>
            <a:r>
              <a:rPr lang="en-US" dirty="0"/>
              <a:t>select avg(</a:t>
            </a:r>
            <a:r>
              <a:rPr lang="en-US" dirty="0" err="1"/>
              <a:t>sal</a:t>
            </a:r>
            <a:r>
              <a:rPr lang="en-US" dirty="0"/>
              <a:t>) from e5;</a:t>
            </a:r>
          </a:p>
          <a:p>
            <a:r>
              <a:rPr lang="en-US" dirty="0"/>
              <a:t>select sum(</a:t>
            </a:r>
            <a:r>
              <a:rPr lang="en-US" dirty="0" err="1"/>
              <a:t>sal</a:t>
            </a:r>
            <a:r>
              <a:rPr lang="en-US" dirty="0"/>
              <a:t>) from e5;</a:t>
            </a:r>
          </a:p>
          <a:p>
            <a:r>
              <a:rPr lang="en-US" dirty="0"/>
              <a:t>select count(</a:t>
            </a:r>
            <a:r>
              <a:rPr lang="en-US" dirty="0" err="1"/>
              <a:t>eid</a:t>
            </a:r>
            <a:r>
              <a:rPr lang="en-US" dirty="0"/>
              <a:t>) as </a:t>
            </a:r>
            <a:r>
              <a:rPr lang="en-US" dirty="0" err="1"/>
              <a:t>cnts</a:t>
            </a:r>
            <a:r>
              <a:rPr lang="en-US" dirty="0"/>
              <a:t> from e5;</a:t>
            </a:r>
            <a:endParaRPr lang="en-IN" dirty="0"/>
          </a:p>
        </p:txBody>
      </p:sp>
    </p:spTree>
    <p:extLst>
      <p:ext uri="{BB962C8B-B14F-4D97-AF65-F5344CB8AC3E}">
        <p14:creationId xmlns:p14="http://schemas.microsoft.com/office/powerpoint/2010/main" val="435315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78357-688A-8C4C-3AE3-D53F9AF047E7}"/>
              </a:ext>
            </a:extLst>
          </p:cNvPr>
          <p:cNvSpPr>
            <a:spLocks noGrp="1"/>
          </p:cNvSpPr>
          <p:nvPr>
            <p:ph type="title"/>
          </p:nvPr>
        </p:nvSpPr>
        <p:spPr/>
        <p:txBody>
          <a:bodyPr/>
          <a:lstStyle/>
          <a:p>
            <a:r>
              <a:rPr lang="en-US" dirty="0"/>
              <a:t>Select with where conditions</a:t>
            </a:r>
            <a:endParaRPr lang="en-IN" dirty="0"/>
          </a:p>
        </p:txBody>
      </p:sp>
      <p:sp>
        <p:nvSpPr>
          <p:cNvPr id="3" name="Content Placeholder 2">
            <a:extLst>
              <a:ext uri="{FF2B5EF4-FFF2-40B4-BE49-F238E27FC236}">
                <a16:creationId xmlns:a16="http://schemas.microsoft.com/office/drawing/2014/main" id="{2C6BAA01-7EF3-BB08-128B-3EDDBFFA045F}"/>
              </a:ext>
            </a:extLst>
          </p:cNvPr>
          <p:cNvSpPr>
            <a:spLocks noGrp="1"/>
          </p:cNvSpPr>
          <p:nvPr>
            <p:ph idx="1"/>
          </p:nvPr>
        </p:nvSpPr>
        <p:spPr/>
        <p:txBody>
          <a:bodyPr/>
          <a:lstStyle/>
          <a:p>
            <a:r>
              <a:rPr lang="en-US" dirty="0"/>
              <a:t>select </a:t>
            </a:r>
            <a:r>
              <a:rPr lang="en-US" dirty="0" err="1"/>
              <a:t>eid</a:t>
            </a:r>
            <a:r>
              <a:rPr lang="en-US" dirty="0"/>
              <a:t> from e5 where </a:t>
            </a:r>
            <a:r>
              <a:rPr lang="en-US" dirty="0" err="1"/>
              <a:t>sal</a:t>
            </a:r>
            <a:r>
              <a:rPr lang="en-US" dirty="0"/>
              <a:t>&gt;20000;</a:t>
            </a:r>
          </a:p>
          <a:p>
            <a:r>
              <a:rPr lang="en-US" dirty="0"/>
              <a:t>select </a:t>
            </a:r>
            <a:r>
              <a:rPr lang="en-US" dirty="0" err="1"/>
              <a:t>eid</a:t>
            </a:r>
            <a:r>
              <a:rPr lang="en-US" dirty="0"/>
              <a:t> from e5 where </a:t>
            </a:r>
            <a:r>
              <a:rPr lang="en-US" dirty="0" err="1"/>
              <a:t>sal</a:t>
            </a:r>
            <a:r>
              <a:rPr lang="en-US" dirty="0"/>
              <a:t>&gt;20000 and </a:t>
            </a:r>
            <a:r>
              <a:rPr lang="en-US" dirty="0" err="1"/>
              <a:t>sal</a:t>
            </a:r>
            <a:r>
              <a:rPr lang="en-US" dirty="0"/>
              <a:t>&lt;50000;</a:t>
            </a:r>
          </a:p>
          <a:p>
            <a:r>
              <a:rPr lang="en-US" dirty="0"/>
              <a:t>select </a:t>
            </a:r>
            <a:r>
              <a:rPr lang="en-US" dirty="0" err="1"/>
              <a:t>eid</a:t>
            </a:r>
            <a:r>
              <a:rPr lang="en-US" dirty="0"/>
              <a:t> from e5 where </a:t>
            </a:r>
            <a:r>
              <a:rPr lang="en-US" dirty="0" err="1"/>
              <a:t>sal</a:t>
            </a:r>
            <a:r>
              <a:rPr lang="en-US" dirty="0"/>
              <a:t>&lt;30000 or </a:t>
            </a:r>
            <a:r>
              <a:rPr lang="en-US" dirty="0" err="1"/>
              <a:t>sal</a:t>
            </a:r>
            <a:r>
              <a:rPr lang="en-US" dirty="0"/>
              <a:t>=30000;</a:t>
            </a:r>
            <a:endParaRPr lang="en-IN" dirty="0"/>
          </a:p>
        </p:txBody>
      </p:sp>
    </p:spTree>
    <p:extLst>
      <p:ext uri="{BB962C8B-B14F-4D97-AF65-F5344CB8AC3E}">
        <p14:creationId xmlns:p14="http://schemas.microsoft.com/office/powerpoint/2010/main" val="290154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82EB8-A4F9-C6BB-1142-31DC7428A4FF}"/>
              </a:ext>
            </a:extLst>
          </p:cNvPr>
          <p:cNvSpPr>
            <a:spLocks noGrp="1"/>
          </p:cNvSpPr>
          <p:nvPr>
            <p:ph type="title"/>
          </p:nvPr>
        </p:nvSpPr>
        <p:spPr/>
        <p:txBody>
          <a:bodyPr/>
          <a:lstStyle/>
          <a:p>
            <a:r>
              <a:rPr lang="en-US" dirty="0"/>
              <a:t>Group by order by</a:t>
            </a:r>
            <a:endParaRPr lang="en-IN" dirty="0"/>
          </a:p>
        </p:txBody>
      </p:sp>
      <p:sp>
        <p:nvSpPr>
          <p:cNvPr id="3" name="Content Placeholder 2">
            <a:extLst>
              <a:ext uri="{FF2B5EF4-FFF2-40B4-BE49-F238E27FC236}">
                <a16:creationId xmlns:a16="http://schemas.microsoft.com/office/drawing/2014/main" id="{772FCFBD-7D89-8AC7-54CA-B225E4C1FACA}"/>
              </a:ext>
            </a:extLst>
          </p:cNvPr>
          <p:cNvSpPr>
            <a:spLocks noGrp="1"/>
          </p:cNvSpPr>
          <p:nvPr>
            <p:ph idx="1"/>
          </p:nvPr>
        </p:nvSpPr>
        <p:spPr/>
        <p:txBody>
          <a:bodyPr/>
          <a:lstStyle/>
          <a:p>
            <a:r>
              <a:rPr lang="en-US" dirty="0"/>
              <a:t>create table e5(</a:t>
            </a:r>
            <a:r>
              <a:rPr lang="en-US" dirty="0" err="1"/>
              <a:t>eid</a:t>
            </a:r>
            <a:r>
              <a:rPr lang="en-US" dirty="0"/>
              <a:t> int, </a:t>
            </a:r>
            <a:r>
              <a:rPr lang="en-US" dirty="0" err="1"/>
              <a:t>sal</a:t>
            </a:r>
            <a:r>
              <a:rPr lang="en-US" dirty="0"/>
              <a:t> float);</a:t>
            </a:r>
          </a:p>
          <a:p>
            <a:r>
              <a:rPr lang="en-US" dirty="0"/>
              <a:t>insert into e5 values(&amp;</a:t>
            </a:r>
            <a:r>
              <a:rPr lang="en-US" dirty="0" err="1"/>
              <a:t>eid</a:t>
            </a:r>
            <a:r>
              <a:rPr lang="en-US" dirty="0"/>
              <a:t>,&amp;</a:t>
            </a:r>
            <a:r>
              <a:rPr lang="en-US" dirty="0" err="1"/>
              <a:t>sal</a:t>
            </a:r>
            <a:r>
              <a:rPr lang="en-US" dirty="0"/>
              <a:t>);</a:t>
            </a:r>
          </a:p>
          <a:p>
            <a:r>
              <a:rPr lang="en-US" dirty="0"/>
              <a:t>select count(</a:t>
            </a:r>
            <a:r>
              <a:rPr lang="en-US" dirty="0" err="1"/>
              <a:t>sal</a:t>
            </a:r>
            <a:r>
              <a:rPr lang="en-US" dirty="0"/>
              <a:t>) from e5 group by </a:t>
            </a:r>
            <a:r>
              <a:rPr lang="en-US" dirty="0" err="1"/>
              <a:t>sal</a:t>
            </a:r>
            <a:r>
              <a:rPr lang="en-US" dirty="0"/>
              <a:t> order by </a:t>
            </a:r>
            <a:r>
              <a:rPr lang="en-US" dirty="0" err="1"/>
              <a:t>sal</a:t>
            </a:r>
            <a:r>
              <a:rPr lang="en-US" dirty="0"/>
              <a:t>;</a:t>
            </a:r>
          </a:p>
          <a:p>
            <a:r>
              <a:rPr lang="en-IN" dirty="0"/>
              <a:t>UPDATE t3 SET SAL = SAL *1.1;</a:t>
            </a:r>
          </a:p>
        </p:txBody>
      </p:sp>
    </p:spTree>
    <p:extLst>
      <p:ext uri="{BB962C8B-B14F-4D97-AF65-F5344CB8AC3E}">
        <p14:creationId xmlns:p14="http://schemas.microsoft.com/office/powerpoint/2010/main" val="3473087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A7C7-2EF8-2D77-1994-E51D7C081014}"/>
              </a:ext>
            </a:extLst>
          </p:cNvPr>
          <p:cNvSpPr>
            <a:spLocks noGrp="1"/>
          </p:cNvSpPr>
          <p:nvPr>
            <p:ph type="title"/>
          </p:nvPr>
        </p:nvSpPr>
        <p:spPr/>
        <p:txBody>
          <a:bodyPr/>
          <a:lstStyle/>
          <a:p>
            <a:r>
              <a:rPr lang="en-US" dirty="0"/>
              <a:t>Group by and order by</a:t>
            </a:r>
            <a:endParaRPr lang="en-IN" dirty="0"/>
          </a:p>
        </p:txBody>
      </p:sp>
      <p:graphicFrame>
        <p:nvGraphicFramePr>
          <p:cNvPr id="4" name="Content Placeholder 3">
            <a:extLst>
              <a:ext uri="{FF2B5EF4-FFF2-40B4-BE49-F238E27FC236}">
                <a16:creationId xmlns:a16="http://schemas.microsoft.com/office/drawing/2014/main" id="{3C27F25D-996B-57C8-02A7-92651D2EADF6}"/>
              </a:ext>
            </a:extLst>
          </p:cNvPr>
          <p:cNvGraphicFramePr>
            <a:graphicFrameLocks noGrp="1"/>
          </p:cNvGraphicFramePr>
          <p:nvPr>
            <p:ph idx="1"/>
          </p:nvPr>
        </p:nvGraphicFramePr>
        <p:xfrm>
          <a:off x="838200" y="2440464"/>
          <a:ext cx="10515600" cy="3121660"/>
        </p:xfrm>
        <a:graphic>
          <a:graphicData uri="http://schemas.openxmlformats.org/drawingml/2006/table">
            <a:tbl>
              <a:tblPr/>
              <a:tblGrid>
                <a:gridCol w="5257800">
                  <a:extLst>
                    <a:ext uri="{9D8B030D-6E8A-4147-A177-3AD203B41FA5}">
                      <a16:colId xmlns:a16="http://schemas.microsoft.com/office/drawing/2014/main" val="3246531830"/>
                    </a:ext>
                  </a:extLst>
                </a:gridCol>
                <a:gridCol w="5257800">
                  <a:extLst>
                    <a:ext uri="{9D8B030D-6E8A-4147-A177-3AD203B41FA5}">
                      <a16:colId xmlns:a16="http://schemas.microsoft.com/office/drawing/2014/main" val="1551327413"/>
                    </a:ext>
                  </a:extLst>
                </a:gridCol>
              </a:tblGrid>
              <a:tr h="0">
                <a:tc>
                  <a:txBody>
                    <a:bodyPr/>
                    <a:lstStyle/>
                    <a:p>
                      <a:pPr algn="ctr" fontAlgn="base"/>
                      <a:r>
                        <a:rPr lang="en-IN" sz="1400" b="1">
                          <a:effectLst/>
                        </a:rPr>
                        <a:t>GROUP BY</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ORDER BY</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84235373"/>
                  </a:ext>
                </a:extLst>
              </a:tr>
              <a:tr h="0">
                <a:tc>
                  <a:txBody>
                    <a:bodyPr/>
                    <a:lstStyle/>
                    <a:p>
                      <a:pPr algn="ctr" fontAlgn="ctr"/>
                      <a:r>
                        <a:rPr lang="en-US" sz="1250" b="0">
                          <a:effectLst/>
                        </a:rPr>
                        <a:t>Group by statement is used to group the rows that have the same value.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Whereas Order by statement sort the result-set either in ascending or descending order.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1293864"/>
                  </a:ext>
                </a:extLst>
              </a:tr>
              <a:tr h="0">
                <a:tc>
                  <a:txBody>
                    <a:bodyPr/>
                    <a:lstStyle/>
                    <a:p>
                      <a:pPr algn="ctr" fontAlgn="ctr"/>
                      <a:r>
                        <a:rPr lang="en-US" sz="1250" b="0">
                          <a:effectLst/>
                        </a:rPr>
                        <a:t>It may be allowed in CREATE VIEW statement.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it does not use in CREATE VIEW statement.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93679942"/>
                  </a:ext>
                </a:extLst>
              </a:tr>
              <a:tr h="0">
                <a:tc>
                  <a:txBody>
                    <a:bodyPr/>
                    <a:lstStyle/>
                    <a:p>
                      <a:pPr algn="ctr" fontAlgn="ctr"/>
                      <a:r>
                        <a:rPr lang="en-US" sz="1250" b="0">
                          <a:effectLst/>
                        </a:rPr>
                        <a:t>In select statements, it is always used before the order by keyword.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While in the select statement, it is always used after the group by keyword.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92199722"/>
                  </a:ext>
                </a:extLst>
              </a:tr>
              <a:tr h="0">
                <a:tc>
                  <a:txBody>
                    <a:bodyPr/>
                    <a:lstStyle/>
                    <a:p>
                      <a:pPr algn="ctr" fontAlgn="ctr"/>
                      <a:r>
                        <a:rPr lang="en-US" sz="1250" b="0">
                          <a:effectLst/>
                        </a:rPr>
                        <a:t>An attribute cannot be in the group by a statement under the aggregate function.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Whereas in order by statement, the attribute can be under aggregate function.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23849827"/>
                  </a:ext>
                </a:extLst>
              </a:tr>
              <a:tr h="0">
                <a:tc>
                  <a:txBody>
                    <a:bodyPr/>
                    <a:lstStyle/>
                    <a:p>
                      <a:pPr algn="ctr" fontAlgn="ctr"/>
                      <a:r>
                        <a:rPr lang="en-US" sz="1250" b="0">
                          <a:effectLst/>
                        </a:rPr>
                        <a:t>In group by clause, the tuples are grouped based on the similarity between the attribute values of tuples.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Whereas in order by clause, the result set is sorted based on ascending or descending order.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43178652"/>
                  </a:ext>
                </a:extLst>
              </a:tr>
              <a:tr h="0">
                <a:tc>
                  <a:txBody>
                    <a:bodyPr/>
                    <a:lstStyle/>
                    <a:p>
                      <a:pPr algn="ctr" fontAlgn="ctr"/>
                      <a:r>
                        <a:rPr lang="en-US" sz="1250" b="0">
                          <a:effectLst/>
                        </a:rPr>
                        <a:t>Group by controls the presentation of </a:t>
                      </a:r>
                      <a:r>
                        <a:rPr lang="en-US" sz="1250" b="0" u="sng">
                          <a:effectLst/>
                          <a:hlinkClick r:id="rId2"/>
                        </a:rPr>
                        <a:t>tuples(rows).</a:t>
                      </a:r>
                      <a:endParaRPr lang="en-US" sz="1250" b="0">
                        <a:effectLst/>
                      </a:endParaRP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effectLst/>
                        </a:rPr>
                        <a:t>While order by clause controls the presentation of columns.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47397784"/>
                  </a:ext>
                </a:extLst>
              </a:tr>
            </a:tbl>
          </a:graphicData>
        </a:graphic>
      </p:graphicFrame>
    </p:spTree>
    <p:extLst>
      <p:ext uri="{BB962C8B-B14F-4D97-AF65-F5344CB8AC3E}">
        <p14:creationId xmlns:p14="http://schemas.microsoft.com/office/powerpoint/2010/main" val="64268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B98E6-7902-B7CE-C934-908A8D52206A}"/>
              </a:ext>
            </a:extLst>
          </p:cNvPr>
          <p:cNvSpPr>
            <a:spLocks noGrp="1"/>
          </p:cNvSpPr>
          <p:nvPr>
            <p:ph type="title"/>
          </p:nvPr>
        </p:nvSpPr>
        <p:spPr/>
        <p:txBody>
          <a:bodyPr/>
          <a:lstStyle/>
          <a:p>
            <a:r>
              <a:rPr lang="en-US" dirty="0"/>
              <a:t>The SELECT-FROM-WHERE Structure of Basic SQL Queries</a:t>
            </a:r>
            <a:endParaRPr lang="en-IN" dirty="0"/>
          </a:p>
        </p:txBody>
      </p:sp>
      <p:sp>
        <p:nvSpPr>
          <p:cNvPr id="3" name="Content Placeholder 2">
            <a:extLst>
              <a:ext uri="{FF2B5EF4-FFF2-40B4-BE49-F238E27FC236}">
                <a16:creationId xmlns:a16="http://schemas.microsoft.com/office/drawing/2014/main" id="{A8723663-F9B6-7BED-122D-950527C4F2F0}"/>
              </a:ext>
            </a:extLst>
          </p:cNvPr>
          <p:cNvSpPr>
            <a:spLocks noGrp="1"/>
          </p:cNvSpPr>
          <p:nvPr>
            <p:ph idx="1"/>
          </p:nvPr>
        </p:nvSpPr>
        <p:spPr/>
        <p:txBody>
          <a:bodyPr/>
          <a:lstStyle/>
          <a:p>
            <a:pPr marL="0" indent="0" algn="just">
              <a:buNone/>
            </a:pPr>
            <a:r>
              <a:rPr lang="en-US" dirty="0"/>
              <a:t>Q0: Retrieve the birthdate and address of the employees whose name is 'John B. Smith'. </a:t>
            </a:r>
          </a:p>
          <a:p>
            <a:pPr marL="0" indent="0" algn="just">
              <a:buNone/>
            </a:pPr>
            <a:r>
              <a:rPr lang="en-US" b="1" dirty="0">
                <a:solidFill>
                  <a:srgbClr val="C00000"/>
                </a:solidFill>
              </a:rPr>
              <a:t>QO: SELECT BDATE, ADDRESS FROM EMPLOYEE WHERE FNAME='John' AND MINIT='B' AND LNAME='Smith';</a:t>
            </a:r>
            <a:endParaRPr lang="en-US" sz="2800" b="1" dirty="0">
              <a:solidFill>
                <a:srgbClr val="C00000"/>
              </a:solidFill>
            </a:endParaRPr>
          </a:p>
          <a:p>
            <a:endParaRPr lang="en-IN" dirty="0"/>
          </a:p>
        </p:txBody>
      </p:sp>
    </p:spTree>
    <p:extLst>
      <p:ext uri="{BB962C8B-B14F-4D97-AF65-F5344CB8AC3E}">
        <p14:creationId xmlns:p14="http://schemas.microsoft.com/office/powerpoint/2010/main" val="4043399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269EE-7802-9081-FC67-3EB8B55111BF}"/>
              </a:ext>
            </a:extLst>
          </p:cNvPr>
          <p:cNvSpPr>
            <a:spLocks noGrp="1"/>
          </p:cNvSpPr>
          <p:nvPr>
            <p:ph type="title"/>
          </p:nvPr>
        </p:nvSpPr>
        <p:spPr/>
        <p:txBody>
          <a:bodyPr>
            <a:noAutofit/>
          </a:bodyPr>
          <a:lstStyle/>
          <a:p>
            <a:r>
              <a:rPr lang="en-US" sz="3200" b="1" dirty="0">
                <a:solidFill>
                  <a:srgbClr val="00B050"/>
                </a:solidFill>
              </a:rPr>
              <a:t>QUERY 1: </a:t>
            </a:r>
            <a:r>
              <a:rPr lang="en-US" sz="3200" dirty="0"/>
              <a:t>Retrieve the name and address of all employees who work for the 'Research' department. </a:t>
            </a:r>
            <a:br>
              <a:rPr lang="en-US" sz="3200" dirty="0"/>
            </a:br>
            <a:endParaRPr lang="en-IN" sz="3200" dirty="0"/>
          </a:p>
        </p:txBody>
      </p:sp>
      <p:sp>
        <p:nvSpPr>
          <p:cNvPr id="3" name="Content Placeholder 2">
            <a:extLst>
              <a:ext uri="{FF2B5EF4-FFF2-40B4-BE49-F238E27FC236}">
                <a16:creationId xmlns:a16="http://schemas.microsoft.com/office/drawing/2014/main" id="{6C02E8B1-A433-BB67-8C46-729D5CACBF9D}"/>
              </a:ext>
            </a:extLst>
          </p:cNvPr>
          <p:cNvSpPr>
            <a:spLocks noGrp="1"/>
          </p:cNvSpPr>
          <p:nvPr>
            <p:ph idx="1"/>
          </p:nvPr>
        </p:nvSpPr>
        <p:spPr/>
        <p:txBody>
          <a:bodyPr/>
          <a:lstStyle/>
          <a:p>
            <a:r>
              <a:rPr lang="en-US" dirty="0"/>
              <a:t>create table </a:t>
            </a:r>
            <a:r>
              <a:rPr lang="en-US" dirty="0" err="1"/>
              <a:t>emplyee</a:t>
            </a:r>
            <a:r>
              <a:rPr lang="en-US" dirty="0"/>
              <a:t> (</a:t>
            </a:r>
            <a:r>
              <a:rPr lang="en-US" dirty="0" err="1"/>
              <a:t>ssn</a:t>
            </a:r>
            <a:r>
              <a:rPr lang="en-US" dirty="0"/>
              <a:t> int primary key, name varchar(20), </a:t>
            </a:r>
            <a:r>
              <a:rPr lang="en-US" dirty="0" err="1"/>
              <a:t>dno</a:t>
            </a:r>
            <a:r>
              <a:rPr lang="en-US" dirty="0"/>
              <a:t> int);</a:t>
            </a:r>
          </a:p>
          <a:p>
            <a:r>
              <a:rPr lang="en-US" dirty="0"/>
              <a:t>insert into </a:t>
            </a:r>
            <a:r>
              <a:rPr lang="en-US" dirty="0" err="1"/>
              <a:t>emplyee</a:t>
            </a:r>
            <a:r>
              <a:rPr lang="en-US" dirty="0"/>
              <a:t> values(&amp;</a:t>
            </a:r>
            <a:r>
              <a:rPr lang="en-US" dirty="0" err="1"/>
              <a:t>ssn</a:t>
            </a:r>
            <a:r>
              <a:rPr lang="en-US" dirty="0"/>
              <a:t>,'&amp;name',&amp;</a:t>
            </a:r>
            <a:r>
              <a:rPr lang="en-US" dirty="0" err="1"/>
              <a:t>dno</a:t>
            </a:r>
            <a:r>
              <a:rPr lang="en-US" dirty="0"/>
              <a:t>);</a:t>
            </a:r>
          </a:p>
          <a:p>
            <a:r>
              <a:rPr lang="en-US" dirty="0"/>
              <a:t>create table department (</a:t>
            </a:r>
            <a:r>
              <a:rPr lang="en-US" dirty="0" err="1"/>
              <a:t>dnumber</a:t>
            </a:r>
            <a:r>
              <a:rPr lang="en-US" dirty="0"/>
              <a:t> int, </a:t>
            </a:r>
            <a:r>
              <a:rPr lang="en-US" dirty="0" err="1"/>
              <a:t>dname</a:t>
            </a:r>
            <a:r>
              <a:rPr lang="en-US" dirty="0"/>
              <a:t> varchar(20), address varchar(20));</a:t>
            </a:r>
          </a:p>
          <a:p>
            <a:r>
              <a:rPr lang="en-US" dirty="0"/>
              <a:t>insert into department values(&amp;</a:t>
            </a:r>
            <a:r>
              <a:rPr lang="en-US" dirty="0" err="1"/>
              <a:t>dnumber</a:t>
            </a:r>
            <a:r>
              <a:rPr lang="en-US" dirty="0"/>
              <a:t>,'&amp;</a:t>
            </a:r>
            <a:r>
              <a:rPr lang="en-US" dirty="0" err="1"/>
              <a:t>dname</a:t>
            </a:r>
            <a:r>
              <a:rPr lang="en-US" dirty="0"/>
              <a:t>','&amp;address’);</a:t>
            </a:r>
          </a:p>
          <a:p>
            <a:r>
              <a:rPr lang="en-US" dirty="0"/>
              <a:t>select </a:t>
            </a:r>
            <a:r>
              <a:rPr lang="en-US" dirty="0" err="1"/>
              <a:t>name,address</a:t>
            </a:r>
            <a:r>
              <a:rPr lang="en-US" dirty="0"/>
              <a:t> from </a:t>
            </a:r>
            <a:r>
              <a:rPr lang="en-US" dirty="0" err="1"/>
              <a:t>emplyee,department</a:t>
            </a:r>
            <a:r>
              <a:rPr lang="en-US" dirty="0"/>
              <a:t> where </a:t>
            </a:r>
            <a:r>
              <a:rPr lang="en-US" dirty="0" err="1"/>
              <a:t>dname</a:t>
            </a:r>
            <a:r>
              <a:rPr lang="en-US" dirty="0"/>
              <a:t>='research' and </a:t>
            </a:r>
            <a:r>
              <a:rPr lang="en-US" dirty="0" err="1"/>
              <a:t>dno</a:t>
            </a:r>
            <a:r>
              <a:rPr lang="en-US" dirty="0"/>
              <a:t>=</a:t>
            </a:r>
            <a:r>
              <a:rPr lang="en-US" dirty="0" err="1"/>
              <a:t>dnumber</a:t>
            </a:r>
            <a:r>
              <a:rPr lang="en-US" dirty="0"/>
              <a:t>;</a:t>
            </a:r>
            <a:endParaRPr lang="en-IN" dirty="0"/>
          </a:p>
        </p:txBody>
      </p:sp>
    </p:spTree>
    <p:extLst>
      <p:ext uri="{BB962C8B-B14F-4D97-AF65-F5344CB8AC3E}">
        <p14:creationId xmlns:p14="http://schemas.microsoft.com/office/powerpoint/2010/main" val="1202187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F7E1D-29E2-6D0F-DC6C-B34D2557B870}"/>
              </a:ext>
            </a:extLst>
          </p:cNvPr>
          <p:cNvSpPr>
            <a:spLocks noGrp="1"/>
          </p:cNvSpPr>
          <p:nvPr>
            <p:ph type="title"/>
          </p:nvPr>
        </p:nvSpPr>
        <p:spPr/>
        <p:txBody>
          <a:bodyPr>
            <a:noAutofit/>
          </a:bodyPr>
          <a:lstStyle/>
          <a:p>
            <a:r>
              <a:rPr lang="en-US" sz="2800" b="1" i="0" u="none" strike="noStrike" baseline="0" dirty="0">
                <a:latin typeface="AkzidenzGroteskBE-Md"/>
              </a:rPr>
              <a:t>Query 2. </a:t>
            </a:r>
            <a:r>
              <a:rPr lang="en-US" sz="2800" b="0" i="0" u="none" strike="noStrike" baseline="0" dirty="0">
                <a:latin typeface="MinionPro-Regular"/>
              </a:rPr>
              <a:t>For every project located in ‘Stafford’, list the project number, the controlling department number, and the department manager’s last name, </a:t>
            </a:r>
            <a:r>
              <a:rPr lang="en-IN" sz="2800" b="0" i="0" u="none" strike="noStrike" baseline="0" dirty="0">
                <a:latin typeface="MinionPro-Regular"/>
              </a:rPr>
              <a:t>address, and birth date.</a:t>
            </a:r>
            <a:endParaRPr lang="en-IN" sz="2800" dirty="0"/>
          </a:p>
        </p:txBody>
      </p:sp>
      <p:sp>
        <p:nvSpPr>
          <p:cNvPr id="3" name="Content Placeholder 2">
            <a:extLst>
              <a:ext uri="{FF2B5EF4-FFF2-40B4-BE49-F238E27FC236}">
                <a16:creationId xmlns:a16="http://schemas.microsoft.com/office/drawing/2014/main" id="{271BF277-C414-C7A3-B6DE-28FFFECA4910}"/>
              </a:ext>
            </a:extLst>
          </p:cNvPr>
          <p:cNvSpPr>
            <a:spLocks noGrp="1"/>
          </p:cNvSpPr>
          <p:nvPr>
            <p:ph idx="1"/>
          </p:nvPr>
        </p:nvSpPr>
        <p:spPr/>
        <p:txBody>
          <a:bodyPr/>
          <a:lstStyle/>
          <a:p>
            <a:r>
              <a:rPr lang="en-IN" sz="1800" b="1" i="0" u="none" strike="noStrike" baseline="0" dirty="0">
                <a:latin typeface="MinionPro-Bold"/>
              </a:rPr>
              <a:t>select-project-join </a:t>
            </a:r>
            <a:r>
              <a:rPr lang="en-IN" sz="1800" b="0" i="0" u="none" strike="noStrike" baseline="0" dirty="0">
                <a:latin typeface="MinionPro-Regular"/>
              </a:rPr>
              <a:t>query</a:t>
            </a:r>
          </a:p>
          <a:p>
            <a:r>
              <a:rPr lang="en-US" sz="1800" b="0" i="0" u="none" strike="noStrike" baseline="0" dirty="0">
                <a:latin typeface="MinionPro-Regular"/>
              </a:rPr>
              <a:t>create table employee( </a:t>
            </a:r>
            <a:r>
              <a:rPr lang="en-US" sz="1800" b="0" i="0" u="none" strike="noStrike" baseline="0" dirty="0" err="1">
                <a:latin typeface="MinionPro-Regular"/>
              </a:rPr>
              <a:t>ssn</a:t>
            </a:r>
            <a:r>
              <a:rPr lang="en-US" sz="1800" b="0" i="0" u="none" strike="noStrike" baseline="0" dirty="0">
                <a:latin typeface="MinionPro-Regular"/>
              </a:rPr>
              <a:t> int primary key, name varchar(20), </a:t>
            </a:r>
            <a:r>
              <a:rPr lang="en-US" sz="1800" b="0" i="0" u="none" strike="noStrike" baseline="0" dirty="0" err="1">
                <a:latin typeface="MinionPro-Regular"/>
              </a:rPr>
              <a:t>dno</a:t>
            </a:r>
            <a:r>
              <a:rPr lang="en-US" sz="1800" b="0" i="0" u="none" strike="noStrike" baseline="0" dirty="0">
                <a:latin typeface="MinionPro-Regular"/>
              </a:rPr>
              <a:t> int not null);</a:t>
            </a:r>
          </a:p>
          <a:p>
            <a:r>
              <a:rPr lang="en-US" sz="1800" b="0" i="0" u="none" strike="noStrike" baseline="0" dirty="0">
                <a:latin typeface="MinionPro-Regular"/>
              </a:rPr>
              <a:t>insert into employee values(&amp;</a:t>
            </a:r>
            <a:r>
              <a:rPr lang="en-US" sz="1800" b="0" i="0" u="none" strike="noStrike" baseline="0" dirty="0" err="1">
                <a:latin typeface="MinionPro-Regular"/>
              </a:rPr>
              <a:t>ssn</a:t>
            </a:r>
            <a:r>
              <a:rPr lang="en-US" sz="1800" b="0" i="0" u="none" strike="noStrike" baseline="0" dirty="0">
                <a:latin typeface="MinionPro-Regular"/>
              </a:rPr>
              <a:t>,'&amp;name',&amp;</a:t>
            </a:r>
            <a:r>
              <a:rPr lang="en-US" sz="1800" b="0" i="0" u="none" strike="noStrike" baseline="0" dirty="0" err="1">
                <a:latin typeface="MinionPro-Regular"/>
              </a:rPr>
              <a:t>dno</a:t>
            </a:r>
            <a:r>
              <a:rPr lang="en-US" sz="1800" b="0" i="0" u="none" strike="noStrike" baseline="0" dirty="0">
                <a:latin typeface="MinionPro-Regular"/>
              </a:rPr>
              <a:t>);</a:t>
            </a:r>
          </a:p>
          <a:p>
            <a:r>
              <a:rPr lang="en-US" sz="1800" dirty="0"/>
              <a:t>create table department (</a:t>
            </a:r>
            <a:r>
              <a:rPr lang="en-US" sz="1800" dirty="0" err="1"/>
              <a:t>dnumber</a:t>
            </a:r>
            <a:r>
              <a:rPr lang="en-US" sz="1800" dirty="0"/>
              <a:t> int, </a:t>
            </a:r>
            <a:r>
              <a:rPr lang="en-US" sz="1800" dirty="0" err="1"/>
              <a:t>dname</a:t>
            </a:r>
            <a:r>
              <a:rPr lang="en-US" sz="1800" dirty="0"/>
              <a:t> varchar(20), address varchar(20));</a:t>
            </a:r>
          </a:p>
          <a:p>
            <a:r>
              <a:rPr lang="en-US" sz="1800" dirty="0"/>
              <a:t>insert into department values(&amp;</a:t>
            </a:r>
            <a:r>
              <a:rPr lang="en-US" sz="1800" dirty="0" err="1"/>
              <a:t>dnumber</a:t>
            </a:r>
            <a:r>
              <a:rPr lang="en-US" sz="1800" dirty="0"/>
              <a:t>,'&amp;</a:t>
            </a:r>
            <a:r>
              <a:rPr lang="en-US" sz="1800" dirty="0" err="1"/>
              <a:t>dname</a:t>
            </a:r>
            <a:r>
              <a:rPr lang="en-US" sz="1800" dirty="0"/>
              <a:t>','&amp;address’);</a:t>
            </a:r>
          </a:p>
          <a:p>
            <a:r>
              <a:rPr lang="en-US" sz="1800" b="0" i="0" u="none" strike="noStrike" baseline="0" dirty="0">
                <a:latin typeface="MinionPro-Regular"/>
              </a:rPr>
              <a:t>create table project1(</a:t>
            </a:r>
            <a:r>
              <a:rPr lang="en-US" sz="1800" b="0" i="0" u="none" strike="noStrike" baseline="0" dirty="0" err="1">
                <a:latin typeface="MinionPro-Regular"/>
              </a:rPr>
              <a:t>pnumber</a:t>
            </a:r>
            <a:r>
              <a:rPr lang="en-US" sz="1800" b="0" i="0" u="none" strike="noStrike" baseline="0" dirty="0">
                <a:latin typeface="MinionPro-Regular"/>
              </a:rPr>
              <a:t> int primary key, </a:t>
            </a:r>
            <a:r>
              <a:rPr lang="en-US" sz="1800" b="0" i="0" u="none" strike="noStrike" baseline="0" dirty="0" err="1">
                <a:latin typeface="MinionPro-Regular"/>
              </a:rPr>
              <a:t>plocation</a:t>
            </a:r>
            <a:r>
              <a:rPr lang="en-US" sz="1800" b="0" i="0" u="none" strike="noStrike" baseline="0" dirty="0">
                <a:latin typeface="MinionPro-Regular"/>
              </a:rPr>
              <a:t> varchar(20), </a:t>
            </a:r>
            <a:r>
              <a:rPr lang="en-US" sz="1800" b="0" i="0" u="none" strike="noStrike" baseline="0" dirty="0" err="1">
                <a:latin typeface="MinionPro-Regular"/>
              </a:rPr>
              <a:t>mgrssn</a:t>
            </a:r>
            <a:r>
              <a:rPr lang="en-US" sz="1800" b="0" i="0" u="none" strike="noStrike" baseline="0" dirty="0">
                <a:latin typeface="MinionPro-Regular"/>
              </a:rPr>
              <a:t> int not null);</a:t>
            </a:r>
            <a:endParaRPr lang="en-US" sz="1800" dirty="0">
              <a:latin typeface="MinionPro-Regular"/>
            </a:endParaRPr>
          </a:p>
          <a:p>
            <a:r>
              <a:rPr lang="en-US" sz="1800" b="0" i="0" u="none" strike="noStrike" baseline="0" dirty="0">
                <a:latin typeface="MinionPro-Regular"/>
              </a:rPr>
              <a:t>insert into project1 values(&amp;</a:t>
            </a:r>
            <a:r>
              <a:rPr lang="en-US" sz="1800" b="0" i="0" u="none" strike="noStrike" baseline="0" dirty="0" err="1">
                <a:latin typeface="MinionPro-Regular"/>
              </a:rPr>
              <a:t>pnumber</a:t>
            </a:r>
            <a:r>
              <a:rPr lang="en-US" sz="1800" b="0" i="0" u="none" strike="noStrike" baseline="0" dirty="0">
                <a:latin typeface="MinionPro-Regular"/>
              </a:rPr>
              <a:t>,'&amp;</a:t>
            </a:r>
            <a:r>
              <a:rPr lang="en-US" sz="1800" b="0" i="0" u="none" strike="noStrike" baseline="0" dirty="0" err="1">
                <a:latin typeface="MinionPro-Regular"/>
              </a:rPr>
              <a:t>plocation</a:t>
            </a:r>
            <a:r>
              <a:rPr lang="en-US" sz="1800" b="0" i="0" u="none" strike="noStrike" baseline="0" dirty="0">
                <a:latin typeface="MinionPro-Regular"/>
              </a:rPr>
              <a:t>',&amp;</a:t>
            </a:r>
            <a:r>
              <a:rPr lang="en-US" sz="1800" b="0" i="0" u="none" strike="noStrike" baseline="0" dirty="0" err="1">
                <a:latin typeface="MinionPro-Regular"/>
              </a:rPr>
              <a:t>mgrssn</a:t>
            </a:r>
            <a:r>
              <a:rPr lang="en-US" sz="1800" b="0" i="0" u="none" strike="noStrike" baseline="0" dirty="0">
                <a:latin typeface="MinionPro-Regular"/>
              </a:rPr>
              <a:t>);</a:t>
            </a:r>
          </a:p>
          <a:p>
            <a:r>
              <a:rPr lang="en-IN" sz="1800" b="0" i="0" u="none" strike="noStrike" baseline="0" dirty="0">
                <a:latin typeface="MinionPro-Regular"/>
              </a:rPr>
              <a:t>select </a:t>
            </a:r>
            <a:r>
              <a:rPr lang="en-IN" sz="1800" b="0" i="0" u="none" strike="noStrike" baseline="0" dirty="0" err="1">
                <a:latin typeface="MinionPro-Regular"/>
              </a:rPr>
              <a:t>name,address</a:t>
            </a:r>
            <a:r>
              <a:rPr lang="en-IN" sz="1800" b="0" i="0" u="none" strike="noStrike" baseline="0" dirty="0">
                <a:latin typeface="MinionPro-Regular"/>
              </a:rPr>
              <a:t>, </a:t>
            </a:r>
            <a:r>
              <a:rPr lang="en-IN" sz="1800" b="0" i="0" u="none" strike="noStrike" baseline="0" dirty="0" err="1">
                <a:latin typeface="MinionPro-Regular"/>
              </a:rPr>
              <a:t>pnumber</a:t>
            </a:r>
            <a:r>
              <a:rPr lang="en-IN" sz="1800" b="0" i="0" u="none" strike="noStrike" baseline="0" dirty="0">
                <a:latin typeface="MinionPro-Regular"/>
              </a:rPr>
              <a:t> from employee,project1,department where </a:t>
            </a:r>
            <a:r>
              <a:rPr lang="en-IN" sz="1800" b="0" i="0" u="none" strike="noStrike" baseline="0" dirty="0" err="1">
                <a:latin typeface="MinionPro-Regular"/>
              </a:rPr>
              <a:t>dno</a:t>
            </a:r>
            <a:r>
              <a:rPr lang="en-IN" sz="1800" b="0" i="0" u="none" strike="noStrike" baseline="0" dirty="0">
                <a:latin typeface="MinionPro-Regular"/>
              </a:rPr>
              <a:t>=</a:t>
            </a:r>
            <a:r>
              <a:rPr lang="en-IN" sz="1800" b="0" i="0" u="none" strike="noStrike" baseline="0" dirty="0" err="1">
                <a:latin typeface="MinionPro-Regular"/>
              </a:rPr>
              <a:t>dnumber</a:t>
            </a:r>
            <a:r>
              <a:rPr lang="en-IN" sz="1800" b="0" i="0" u="none" strike="noStrike" baseline="0" dirty="0">
                <a:latin typeface="MinionPro-Regular"/>
              </a:rPr>
              <a:t> and </a:t>
            </a:r>
            <a:r>
              <a:rPr lang="en-IN" sz="1800" b="0" i="0" u="none" strike="noStrike" baseline="0" dirty="0" err="1">
                <a:latin typeface="MinionPro-Regular"/>
              </a:rPr>
              <a:t>mgrssn</a:t>
            </a:r>
            <a:r>
              <a:rPr lang="en-IN" sz="1800" b="0" i="0" u="none" strike="noStrike" baseline="0" dirty="0">
                <a:latin typeface="MinionPro-Regular"/>
              </a:rPr>
              <a:t>=</a:t>
            </a:r>
            <a:r>
              <a:rPr lang="en-IN" sz="1800" b="0" i="0" u="none" strike="noStrike" baseline="0" dirty="0" err="1">
                <a:latin typeface="MinionPro-Regular"/>
              </a:rPr>
              <a:t>ssn</a:t>
            </a:r>
            <a:r>
              <a:rPr lang="en-IN" sz="1800" b="0" i="0" u="none" strike="noStrike" baseline="0" dirty="0">
                <a:latin typeface="MinionPro-Regular"/>
              </a:rPr>
              <a:t> and </a:t>
            </a:r>
            <a:r>
              <a:rPr lang="en-IN" sz="1800" b="0" i="0" u="none" strike="noStrike" baseline="0" dirty="0" err="1">
                <a:latin typeface="MinionPro-Regular"/>
              </a:rPr>
              <a:t>plocation</a:t>
            </a:r>
            <a:r>
              <a:rPr lang="en-IN" sz="1800" b="0" i="0" u="none" strike="noStrike" baseline="0" dirty="0">
                <a:latin typeface="MinionPro-Regular"/>
              </a:rPr>
              <a:t>='</a:t>
            </a:r>
            <a:r>
              <a:rPr lang="en-IN" sz="1800" b="0" i="0" u="none" strike="noStrike" baseline="0" dirty="0" err="1">
                <a:latin typeface="MinionPro-Regular"/>
              </a:rPr>
              <a:t>stanford</a:t>
            </a:r>
            <a:r>
              <a:rPr lang="en-IN" sz="1800" b="0" i="0" u="none" strike="noStrike" baseline="0" dirty="0">
                <a:latin typeface="MinionPro-Regular"/>
              </a:rPr>
              <a:t>'</a:t>
            </a:r>
          </a:p>
          <a:p>
            <a:endParaRPr lang="en-IN" dirty="0"/>
          </a:p>
        </p:txBody>
      </p:sp>
    </p:spTree>
    <p:extLst>
      <p:ext uri="{BB962C8B-B14F-4D97-AF65-F5344CB8AC3E}">
        <p14:creationId xmlns:p14="http://schemas.microsoft.com/office/powerpoint/2010/main" val="3315626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FDE37-2CA5-7079-3AAD-71E9A4E6A6A6}"/>
              </a:ext>
            </a:extLst>
          </p:cNvPr>
          <p:cNvSpPr>
            <a:spLocks noGrp="1"/>
          </p:cNvSpPr>
          <p:nvPr>
            <p:ph type="title"/>
          </p:nvPr>
        </p:nvSpPr>
        <p:spPr/>
        <p:txBody>
          <a:bodyPr/>
          <a:lstStyle/>
          <a:p>
            <a:r>
              <a:rPr lang="en-IN" sz="1800" b="1" i="0" u="none" strike="noStrike" baseline="0" dirty="0">
                <a:latin typeface="AkzidenzGroteskBE-Md"/>
              </a:rPr>
              <a:t>Ambiguous Attribute Names, Aliasing,</a:t>
            </a:r>
            <a:br>
              <a:rPr lang="en-IN" sz="1800" b="1" i="0" u="none" strike="noStrike" baseline="0" dirty="0">
                <a:latin typeface="AkzidenzGroteskBE-Md"/>
              </a:rPr>
            </a:br>
            <a:r>
              <a:rPr lang="en-IN" sz="1800" b="1" i="0" u="none" strike="noStrike" baseline="0" dirty="0">
                <a:latin typeface="AkzidenzGroteskBE-Md"/>
              </a:rPr>
              <a:t>Renaming, and Tuple Variables</a:t>
            </a:r>
            <a:endParaRPr lang="en-IN" dirty="0"/>
          </a:p>
        </p:txBody>
      </p:sp>
      <p:sp>
        <p:nvSpPr>
          <p:cNvPr id="3" name="Content Placeholder 2">
            <a:extLst>
              <a:ext uri="{FF2B5EF4-FFF2-40B4-BE49-F238E27FC236}">
                <a16:creationId xmlns:a16="http://schemas.microsoft.com/office/drawing/2014/main" id="{170B24AF-5452-25CC-B4C9-34FD606C25D3}"/>
              </a:ext>
            </a:extLst>
          </p:cNvPr>
          <p:cNvSpPr>
            <a:spLocks noGrp="1"/>
          </p:cNvSpPr>
          <p:nvPr>
            <p:ph idx="1"/>
          </p:nvPr>
        </p:nvSpPr>
        <p:spPr/>
        <p:txBody>
          <a:bodyPr/>
          <a:lstStyle/>
          <a:p>
            <a:r>
              <a:rPr lang="en-US" sz="2800" b="1">
                <a:solidFill>
                  <a:srgbClr val="C00000"/>
                </a:solidFill>
              </a:rPr>
              <a:t>Q1A: SELECT FNAME, EMPLOYEE.NAME, ADDRESS FROM  EMPLOYEE,DEPARTMENT WHERE DEPARTMENT.NAME='Research' AND DEPARTMENT.DNUMSER=EMPLOYEE.DNUMSER;</a:t>
            </a:r>
          </a:p>
          <a:p>
            <a:endParaRPr lang="en-IN"/>
          </a:p>
        </p:txBody>
      </p:sp>
    </p:spTree>
    <p:extLst>
      <p:ext uri="{BB962C8B-B14F-4D97-AF65-F5344CB8AC3E}">
        <p14:creationId xmlns:p14="http://schemas.microsoft.com/office/powerpoint/2010/main" val="459418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FAB59-26FC-EBEB-145D-393C223FA1EE}"/>
              </a:ext>
            </a:extLst>
          </p:cNvPr>
          <p:cNvSpPr>
            <a:spLocks noGrp="1"/>
          </p:cNvSpPr>
          <p:nvPr>
            <p:ph type="title"/>
          </p:nvPr>
        </p:nvSpPr>
        <p:spPr/>
        <p:txBody>
          <a:bodyPr/>
          <a:lstStyle/>
          <a:p>
            <a:r>
              <a:rPr lang="en-US" dirty="0"/>
              <a:t>More queries: Select with where conditions combining two tables</a:t>
            </a:r>
            <a:endParaRPr lang="en-IN" dirty="0"/>
          </a:p>
        </p:txBody>
      </p:sp>
      <p:sp>
        <p:nvSpPr>
          <p:cNvPr id="3" name="Content Placeholder 2">
            <a:extLst>
              <a:ext uri="{FF2B5EF4-FFF2-40B4-BE49-F238E27FC236}">
                <a16:creationId xmlns:a16="http://schemas.microsoft.com/office/drawing/2014/main" id="{47F329A5-4374-1BA5-C741-E6E24B3FC0DA}"/>
              </a:ext>
            </a:extLst>
          </p:cNvPr>
          <p:cNvSpPr>
            <a:spLocks noGrp="1"/>
          </p:cNvSpPr>
          <p:nvPr>
            <p:ph idx="1"/>
          </p:nvPr>
        </p:nvSpPr>
        <p:spPr/>
        <p:txBody>
          <a:bodyPr/>
          <a:lstStyle/>
          <a:p>
            <a:pPr marL="0" indent="0" algn="just">
              <a:buNone/>
            </a:pPr>
            <a:r>
              <a:rPr lang="en-US" sz="2800" b="1" dirty="0">
                <a:solidFill>
                  <a:srgbClr val="00B050"/>
                </a:solidFill>
              </a:rPr>
              <a:t>QUERY 1: </a:t>
            </a:r>
            <a:r>
              <a:rPr lang="en-US" sz="2800" dirty="0"/>
              <a:t>Retrieve the name and address of all employees who work for the 'Research' department. </a:t>
            </a:r>
          </a:p>
          <a:p>
            <a:pPr marL="0" indent="0" algn="just">
              <a:buNone/>
            </a:pPr>
            <a:r>
              <a:rPr lang="en-US" sz="2400" b="1" dirty="0">
                <a:solidFill>
                  <a:srgbClr val="C00000"/>
                </a:solidFill>
              </a:rPr>
              <a:t>Ql: SELECT FNAME,LNAME,ADDRESS FROM EMPLOYEE,DEPARTMENT WHERE DNAME='Research' AND</a:t>
            </a:r>
            <a:r>
              <a:rPr lang="en-US" sz="2400" dirty="0"/>
              <a:t> </a:t>
            </a:r>
            <a:r>
              <a:rPr lang="en-US" sz="2400" b="1" dirty="0">
                <a:solidFill>
                  <a:srgbClr val="C00000"/>
                </a:solidFill>
              </a:rPr>
              <a:t>DNUMBER=DNO;</a:t>
            </a:r>
          </a:p>
          <a:p>
            <a:pPr marL="0" indent="0" algn="just">
              <a:buNone/>
            </a:pPr>
            <a:r>
              <a:rPr lang="en-US" sz="2800" b="1" dirty="0">
                <a:solidFill>
                  <a:srgbClr val="00B050"/>
                </a:solidFill>
              </a:rPr>
              <a:t>QUERY 2: </a:t>
            </a:r>
            <a:r>
              <a:rPr lang="en-US" sz="2800" dirty="0"/>
              <a:t>For every project located in 'Stafford', list the project number, the controlling department number, and the department manager's last name, address, and birthdate. </a:t>
            </a:r>
          </a:p>
          <a:p>
            <a:pPr marL="0" indent="0" algn="just">
              <a:buNone/>
            </a:pPr>
            <a:r>
              <a:rPr lang="en-US" sz="2400" b="1" dirty="0">
                <a:solidFill>
                  <a:srgbClr val="C00000"/>
                </a:solidFill>
              </a:rPr>
              <a:t>Q2: SELECT PNUMBER, DNUM, LNAME, ADDRESS, BDATE FROM PROJECT, DEPARTMENT, EMPLOYEE WHERE DNUM=DNUMBER AND MGRSSN=SSN AND PLOCATION='Stafford';</a:t>
            </a:r>
          </a:p>
          <a:p>
            <a:endParaRPr lang="en-IN" dirty="0"/>
          </a:p>
        </p:txBody>
      </p:sp>
    </p:spTree>
    <p:extLst>
      <p:ext uri="{BB962C8B-B14F-4D97-AF65-F5344CB8AC3E}">
        <p14:creationId xmlns:p14="http://schemas.microsoft.com/office/powerpoint/2010/main" val="2758566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893F1-4E52-E270-4CDF-73C2CF630402}"/>
              </a:ext>
            </a:extLst>
          </p:cNvPr>
          <p:cNvSpPr>
            <a:spLocks noGrp="1"/>
          </p:cNvSpPr>
          <p:nvPr>
            <p:ph type="title"/>
          </p:nvPr>
        </p:nvSpPr>
        <p:spPr/>
        <p:txBody>
          <a:bodyPr/>
          <a:lstStyle/>
          <a:p>
            <a:r>
              <a:rPr lang="en-US" dirty="0"/>
              <a:t>Ambiguous Attribute Names, Aliasing, and Tuple Variables</a:t>
            </a:r>
            <a:endParaRPr lang="en-IN" dirty="0"/>
          </a:p>
        </p:txBody>
      </p:sp>
      <p:sp>
        <p:nvSpPr>
          <p:cNvPr id="3" name="Content Placeholder 2">
            <a:extLst>
              <a:ext uri="{FF2B5EF4-FFF2-40B4-BE49-F238E27FC236}">
                <a16:creationId xmlns:a16="http://schemas.microsoft.com/office/drawing/2014/main" id="{4BB6FFC0-2614-D361-4D97-B6263A462E03}"/>
              </a:ext>
            </a:extLst>
          </p:cNvPr>
          <p:cNvSpPr>
            <a:spLocks noGrp="1"/>
          </p:cNvSpPr>
          <p:nvPr>
            <p:ph idx="1"/>
          </p:nvPr>
        </p:nvSpPr>
        <p:spPr/>
        <p:txBody>
          <a:bodyPr/>
          <a:lstStyle/>
          <a:p>
            <a:r>
              <a:rPr lang="en-US" sz="2800" b="1" dirty="0">
                <a:solidFill>
                  <a:srgbClr val="C00000"/>
                </a:solidFill>
              </a:rPr>
              <a:t>Q1A: SELECT FNAME, EMPLOYEE.NAME, ADDRESS FROM  EMPLOYEE,DEPARTMENT WHERE DEPARTMENT.NAME='Research' AND DEPARTMENT.DNUMSER=EMPLOYEE.DNUMSER;</a:t>
            </a:r>
          </a:p>
          <a:p>
            <a:r>
              <a:rPr lang="en-US" sz="2800" dirty="0"/>
              <a:t>SELECT FROM WHERE E.FNAME, E.NAME, E.ADDRESS EMPLOYEE E, DEPARTMENT D D.NAME='Research' AND D.DNUMBER=E.DNUMBER;</a:t>
            </a:r>
          </a:p>
          <a:p>
            <a:pPr marL="0" indent="0" algn="just">
              <a:buNone/>
            </a:pPr>
            <a:r>
              <a:rPr lang="en-US" sz="2800" dirty="0"/>
              <a:t>QUERY 8 For each employee, retrieve the employee's first and last name and the first and last name of his or her immediate supervisor. </a:t>
            </a:r>
          </a:p>
          <a:p>
            <a:pPr marL="0" indent="0" algn="just">
              <a:buNone/>
            </a:pPr>
            <a:r>
              <a:rPr lang="en-US" sz="2800" b="1" dirty="0">
                <a:solidFill>
                  <a:srgbClr val="C00000"/>
                </a:solidFill>
              </a:rPr>
              <a:t>Q8: SELECT E.FNAME, E.LNAME, S.FNAME, S.LNAME FROM EMPLOYEE AS E, EMPLOYEE AS S WHERE E.SUPERSSN=S.SSN;</a:t>
            </a:r>
            <a:endParaRPr lang="en-US" sz="2800" b="1" u="sng" dirty="0">
              <a:solidFill>
                <a:srgbClr val="C00000"/>
              </a:solidFill>
            </a:endParaRPr>
          </a:p>
          <a:p>
            <a:endParaRPr lang="en-US" sz="2800" dirty="0"/>
          </a:p>
          <a:p>
            <a:endParaRPr lang="en-US" sz="2800" b="1" dirty="0">
              <a:solidFill>
                <a:srgbClr val="C00000"/>
              </a:solidFill>
            </a:endParaRPr>
          </a:p>
          <a:p>
            <a:pPr marL="0" indent="0">
              <a:buNone/>
            </a:pPr>
            <a:endParaRPr lang="en-IN" dirty="0"/>
          </a:p>
        </p:txBody>
      </p:sp>
    </p:spTree>
    <p:extLst>
      <p:ext uri="{BB962C8B-B14F-4D97-AF65-F5344CB8AC3E}">
        <p14:creationId xmlns:p14="http://schemas.microsoft.com/office/powerpoint/2010/main" val="1816108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3AF56-DC48-6CD4-7AA6-840DF233FA8B}"/>
              </a:ext>
            </a:extLst>
          </p:cNvPr>
          <p:cNvSpPr>
            <a:spLocks noGrp="1"/>
          </p:cNvSpPr>
          <p:nvPr>
            <p:ph type="title"/>
          </p:nvPr>
        </p:nvSpPr>
        <p:spPr>
          <a:xfrm>
            <a:off x="1290145" y="312573"/>
            <a:ext cx="10515600" cy="1325563"/>
          </a:xfrm>
        </p:spPr>
        <p:txBody>
          <a:bodyPr/>
          <a:lstStyle/>
          <a:p>
            <a:r>
              <a:rPr lang="en-US" dirty="0"/>
              <a:t>Unspecified WHERE Clause and Use of the Asterisk</a:t>
            </a:r>
            <a:endParaRPr lang="en-IN" dirty="0"/>
          </a:p>
        </p:txBody>
      </p:sp>
      <p:sp>
        <p:nvSpPr>
          <p:cNvPr id="3" name="Content Placeholder 2">
            <a:extLst>
              <a:ext uri="{FF2B5EF4-FFF2-40B4-BE49-F238E27FC236}">
                <a16:creationId xmlns:a16="http://schemas.microsoft.com/office/drawing/2014/main" id="{CC942223-B799-339E-85E9-EC7B10D107EB}"/>
              </a:ext>
            </a:extLst>
          </p:cNvPr>
          <p:cNvSpPr>
            <a:spLocks noGrp="1"/>
          </p:cNvSpPr>
          <p:nvPr>
            <p:ph idx="1"/>
          </p:nvPr>
        </p:nvSpPr>
        <p:spPr/>
        <p:txBody>
          <a:bodyPr/>
          <a:lstStyle/>
          <a:p>
            <a:pPr marL="0" indent="0" algn="just">
              <a:buNone/>
            </a:pPr>
            <a:r>
              <a:rPr lang="en-US" sz="2800" dirty="0"/>
              <a:t>Select all EMPLOYEE SSNS </a:t>
            </a:r>
            <a:r>
              <a:rPr lang="en-US" sz="2800" b="1" dirty="0">
                <a:solidFill>
                  <a:srgbClr val="C00000"/>
                </a:solidFill>
              </a:rPr>
              <a:t>(Q9), </a:t>
            </a:r>
            <a:r>
              <a:rPr lang="en-US" sz="2800" dirty="0"/>
              <a:t>and </a:t>
            </a:r>
          </a:p>
          <a:p>
            <a:pPr marL="0" indent="0" algn="just">
              <a:buNone/>
            </a:pPr>
            <a:r>
              <a:rPr lang="en-US" sz="2800" dirty="0"/>
              <a:t>all combinations of EMPLOYEE SSN and DEPARTMENT DNAME </a:t>
            </a:r>
            <a:r>
              <a:rPr lang="en-US" sz="2800" b="1" dirty="0">
                <a:solidFill>
                  <a:srgbClr val="C00000"/>
                </a:solidFill>
              </a:rPr>
              <a:t>(Q10) </a:t>
            </a:r>
            <a:r>
              <a:rPr lang="en-US" sz="2800" dirty="0"/>
              <a:t>in the database. </a:t>
            </a:r>
          </a:p>
          <a:p>
            <a:pPr marL="0" indent="0" algn="just">
              <a:buNone/>
            </a:pPr>
            <a:r>
              <a:rPr lang="en-US" sz="2800" b="1" dirty="0">
                <a:solidFill>
                  <a:srgbClr val="C00000"/>
                </a:solidFill>
              </a:rPr>
              <a:t>Q9: SELECT SSN FROM EMPLOYEE</a:t>
            </a:r>
          </a:p>
          <a:p>
            <a:pPr marL="0" indent="0" algn="just">
              <a:buNone/>
            </a:pPr>
            <a:r>
              <a:rPr lang="en-US" sz="2800" b="1" dirty="0" err="1">
                <a:solidFill>
                  <a:srgbClr val="C00000"/>
                </a:solidFill>
              </a:rPr>
              <a:t>QlO</a:t>
            </a:r>
            <a:r>
              <a:rPr lang="en-US" sz="2800" b="1" dirty="0">
                <a:solidFill>
                  <a:srgbClr val="C00000"/>
                </a:solidFill>
              </a:rPr>
              <a:t>: SELECT SSN, DNAME  FROM EMPLOYEE, DEPARTMENT;</a:t>
            </a:r>
          </a:p>
          <a:p>
            <a:pPr marL="0" indent="0" algn="just">
              <a:buNone/>
            </a:pPr>
            <a:r>
              <a:rPr lang="en-US" sz="2800" b="1" dirty="0">
                <a:solidFill>
                  <a:srgbClr val="C00000"/>
                </a:solidFill>
              </a:rPr>
              <a:t>QIC: </a:t>
            </a:r>
          </a:p>
          <a:p>
            <a:pPr marL="0" indent="0" algn="just">
              <a:buNone/>
            </a:pPr>
            <a:r>
              <a:rPr lang="en-US" sz="2800" dirty="0"/>
              <a:t>SELECT * FROM EMPLOYEE WHERE DNO=5; </a:t>
            </a:r>
          </a:p>
          <a:p>
            <a:pPr marL="0" indent="0" algn="just">
              <a:buNone/>
            </a:pPr>
            <a:r>
              <a:rPr lang="en-US" sz="2800" b="1" dirty="0">
                <a:solidFill>
                  <a:srgbClr val="C00000"/>
                </a:solidFill>
              </a:rPr>
              <a:t>QID: </a:t>
            </a:r>
            <a:r>
              <a:rPr lang="en-US" sz="2800" dirty="0"/>
              <a:t>SELECT * FROM EMPLOYEE, DEPARTMENT WHERE DNAME='Research' AND DNO=DNUMBER</a:t>
            </a:r>
            <a:endParaRPr lang="en-US" sz="2800" b="1" u="sng" dirty="0">
              <a:solidFill>
                <a:srgbClr val="C00000"/>
              </a:solidFill>
            </a:endParaRPr>
          </a:p>
          <a:p>
            <a:pPr marL="0" indent="0" algn="just">
              <a:buNone/>
            </a:pPr>
            <a:endParaRPr lang="en-US" sz="2800" b="1" u="sng" dirty="0">
              <a:solidFill>
                <a:srgbClr val="C00000"/>
              </a:solidFill>
            </a:endParaRPr>
          </a:p>
          <a:p>
            <a:endParaRPr lang="en-IN" dirty="0"/>
          </a:p>
        </p:txBody>
      </p:sp>
    </p:spTree>
    <p:extLst>
      <p:ext uri="{BB962C8B-B14F-4D97-AF65-F5344CB8AC3E}">
        <p14:creationId xmlns:p14="http://schemas.microsoft.com/office/powerpoint/2010/main" val="567610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0AC63-8CED-40B3-5E08-56E7F94D9656}"/>
              </a:ext>
            </a:extLst>
          </p:cNvPr>
          <p:cNvSpPr>
            <a:spLocks noGrp="1"/>
          </p:cNvSpPr>
          <p:nvPr>
            <p:ph type="title"/>
          </p:nvPr>
        </p:nvSpPr>
        <p:spPr>
          <a:xfrm>
            <a:off x="1676400" y="396655"/>
            <a:ext cx="10515600" cy="1325563"/>
          </a:xfrm>
        </p:spPr>
        <p:txBody>
          <a:bodyPr/>
          <a:lstStyle/>
          <a:p>
            <a:r>
              <a:rPr lang="en-US" dirty="0"/>
              <a:t>Tables as Sets in SQL</a:t>
            </a:r>
            <a:endParaRPr lang="en-IN" dirty="0"/>
          </a:p>
        </p:txBody>
      </p:sp>
      <p:sp>
        <p:nvSpPr>
          <p:cNvPr id="3" name="Content Placeholder 2">
            <a:extLst>
              <a:ext uri="{FF2B5EF4-FFF2-40B4-BE49-F238E27FC236}">
                <a16:creationId xmlns:a16="http://schemas.microsoft.com/office/drawing/2014/main" id="{9A525EA3-9B6D-0DB1-619E-8BF17D98266A}"/>
              </a:ext>
            </a:extLst>
          </p:cNvPr>
          <p:cNvSpPr>
            <a:spLocks noGrp="1"/>
          </p:cNvSpPr>
          <p:nvPr>
            <p:ph idx="1"/>
          </p:nvPr>
        </p:nvSpPr>
        <p:spPr/>
        <p:txBody>
          <a:bodyPr/>
          <a:lstStyle/>
          <a:p>
            <a:pPr marL="0" indent="0" algn="just">
              <a:buNone/>
            </a:pPr>
            <a:r>
              <a:rPr lang="en-US" sz="2800" dirty="0"/>
              <a:t>QUERY 11 Retrieve the salary of every employee (</a:t>
            </a:r>
            <a:r>
              <a:rPr lang="en-US" sz="2800" dirty="0" err="1"/>
              <a:t>Qll</a:t>
            </a:r>
            <a:r>
              <a:rPr lang="en-US" sz="2800" dirty="0"/>
              <a:t>) and all distinct salary values (</a:t>
            </a:r>
            <a:r>
              <a:rPr lang="en-US" sz="2800" dirty="0" err="1"/>
              <a:t>QllA</a:t>
            </a:r>
            <a:r>
              <a:rPr lang="en-US" sz="2800" dirty="0"/>
              <a:t>). </a:t>
            </a:r>
          </a:p>
          <a:p>
            <a:pPr marL="0" indent="0" algn="just">
              <a:buNone/>
            </a:pPr>
            <a:r>
              <a:rPr lang="en-US" sz="2800" b="1" dirty="0" err="1">
                <a:solidFill>
                  <a:srgbClr val="C00000"/>
                </a:solidFill>
              </a:rPr>
              <a:t>Qll</a:t>
            </a:r>
            <a:r>
              <a:rPr lang="en-US" sz="2800" b="1" dirty="0">
                <a:solidFill>
                  <a:srgbClr val="C00000"/>
                </a:solidFill>
              </a:rPr>
              <a:t>: SELECT ALL SALARY FROM EMPLOYEE; </a:t>
            </a:r>
          </a:p>
          <a:p>
            <a:pPr marL="0" indent="0" algn="just">
              <a:buNone/>
            </a:pPr>
            <a:r>
              <a:rPr lang="en-US" sz="2800" b="1" dirty="0">
                <a:solidFill>
                  <a:srgbClr val="C00000"/>
                </a:solidFill>
              </a:rPr>
              <a:t>QIIA: SELECT DISTINCT SALARY FROM EMPLOYEE;</a:t>
            </a:r>
          </a:p>
          <a:p>
            <a:pPr marL="0" indent="0" algn="just">
              <a:buNone/>
            </a:pPr>
            <a:r>
              <a:rPr lang="en-US" sz="2800" dirty="0"/>
              <a:t>SQL has directly incorporated some of the set operations of relational algebra. There are set union (UNION), set difference (EXCEPT), and set intersection (INTERSECT) operations. </a:t>
            </a:r>
            <a:endParaRPr lang="en-US" sz="2800" b="1" u="sng" dirty="0">
              <a:solidFill>
                <a:srgbClr val="C00000"/>
              </a:solidFill>
            </a:endParaRPr>
          </a:p>
          <a:p>
            <a:endParaRPr lang="en-IN" dirty="0"/>
          </a:p>
        </p:txBody>
      </p:sp>
    </p:spTree>
    <p:extLst>
      <p:ext uri="{BB962C8B-B14F-4D97-AF65-F5344CB8AC3E}">
        <p14:creationId xmlns:p14="http://schemas.microsoft.com/office/powerpoint/2010/main" val="2337049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C249C-8C88-F9A1-82D0-D2D155182B13}"/>
              </a:ext>
            </a:extLst>
          </p:cNvPr>
          <p:cNvSpPr>
            <a:spLocks noGrp="1"/>
          </p:cNvSpPr>
          <p:nvPr>
            <p:ph type="title"/>
          </p:nvPr>
        </p:nvSpPr>
        <p:spPr/>
        <p:txBody>
          <a:bodyPr/>
          <a:lstStyle/>
          <a:p>
            <a:r>
              <a:rPr lang="en-US" dirty="0"/>
              <a:t>Tables as Sets in SQL</a:t>
            </a:r>
            <a:endParaRPr lang="en-IN" dirty="0"/>
          </a:p>
        </p:txBody>
      </p:sp>
      <p:sp>
        <p:nvSpPr>
          <p:cNvPr id="3" name="Content Placeholder 2">
            <a:extLst>
              <a:ext uri="{FF2B5EF4-FFF2-40B4-BE49-F238E27FC236}">
                <a16:creationId xmlns:a16="http://schemas.microsoft.com/office/drawing/2014/main" id="{AC9202D0-C560-A0E2-E82D-5A58E0BD21C2}"/>
              </a:ext>
            </a:extLst>
          </p:cNvPr>
          <p:cNvSpPr>
            <a:spLocks noGrp="1"/>
          </p:cNvSpPr>
          <p:nvPr>
            <p:ph idx="1"/>
          </p:nvPr>
        </p:nvSpPr>
        <p:spPr/>
        <p:txBody>
          <a:bodyPr/>
          <a:lstStyle/>
          <a:p>
            <a:pPr marL="0" indent="0" algn="just">
              <a:buNone/>
            </a:pPr>
            <a:r>
              <a:rPr lang="en-US" sz="2800" dirty="0"/>
              <a:t>QUERY 4 Make a list of all project numbers for projects that involve an employee whose last name is 'Smith', either as a worker or as a manager of the department that controls the project. </a:t>
            </a:r>
          </a:p>
          <a:p>
            <a:pPr marL="0" indent="0" algn="just">
              <a:buNone/>
            </a:pPr>
            <a:r>
              <a:rPr lang="en-US" sz="2800" b="1" dirty="0">
                <a:solidFill>
                  <a:srgbClr val="C00000"/>
                </a:solidFill>
              </a:rPr>
              <a:t>Q4: (SELECT DISTINCT PNUMBER FROM PROJECT, DEPARTMENT, EMPLOYEE WHERE DNUM=DNUMBER AND MGRSSN=SSN AND LNAME='Smith') UNION (SELECT DISTINCT PNUMBER FROM PROJECT, WORKS_ON, EMPLOYEE WHERE PNUMBER=PNO AND ESSN=SSN AND LNAME='Smith'); </a:t>
            </a:r>
            <a:endParaRPr lang="en-US" sz="2800" b="1" u="sng" dirty="0">
              <a:solidFill>
                <a:srgbClr val="C00000"/>
              </a:solidFill>
            </a:endParaRPr>
          </a:p>
          <a:p>
            <a:endParaRPr lang="en-IN" dirty="0"/>
          </a:p>
        </p:txBody>
      </p:sp>
    </p:spTree>
    <p:extLst>
      <p:ext uri="{BB962C8B-B14F-4D97-AF65-F5344CB8AC3E}">
        <p14:creationId xmlns:p14="http://schemas.microsoft.com/office/powerpoint/2010/main" val="1807150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2C644-AACD-DF19-D425-6429F7676D11}"/>
              </a:ext>
            </a:extLst>
          </p:cNvPr>
          <p:cNvSpPr>
            <a:spLocks noGrp="1"/>
          </p:cNvSpPr>
          <p:nvPr>
            <p:ph type="title"/>
          </p:nvPr>
        </p:nvSpPr>
        <p:spPr/>
        <p:txBody>
          <a:bodyPr/>
          <a:lstStyle/>
          <a:p>
            <a:r>
              <a:rPr lang="en-US" dirty="0"/>
              <a:t>Substring Pattern Matching and Arithmetic Operators</a:t>
            </a:r>
            <a:endParaRPr lang="en-IN" dirty="0"/>
          </a:p>
        </p:txBody>
      </p:sp>
      <p:sp>
        <p:nvSpPr>
          <p:cNvPr id="3" name="Content Placeholder 2">
            <a:extLst>
              <a:ext uri="{FF2B5EF4-FFF2-40B4-BE49-F238E27FC236}">
                <a16:creationId xmlns:a16="http://schemas.microsoft.com/office/drawing/2014/main" id="{BBFBA149-A617-EA68-7905-7FA65539DC16}"/>
              </a:ext>
            </a:extLst>
          </p:cNvPr>
          <p:cNvSpPr>
            <a:spLocks noGrp="1"/>
          </p:cNvSpPr>
          <p:nvPr>
            <p:ph idx="1"/>
          </p:nvPr>
        </p:nvSpPr>
        <p:spPr/>
        <p:txBody>
          <a:bodyPr/>
          <a:lstStyle/>
          <a:p>
            <a:pPr marL="0" indent="0" algn="just">
              <a:buNone/>
            </a:pPr>
            <a:r>
              <a:rPr lang="en-US" sz="2800" dirty="0"/>
              <a:t>Retrieve all employees whose address is in Houston, Texas. </a:t>
            </a:r>
          </a:p>
          <a:p>
            <a:pPr marL="0" indent="0" algn="just">
              <a:buNone/>
            </a:pPr>
            <a:r>
              <a:rPr lang="en-US" sz="2800" b="1" dirty="0">
                <a:solidFill>
                  <a:srgbClr val="C00000"/>
                </a:solidFill>
              </a:rPr>
              <a:t>Q12: SELECT FNAME, LNAME FROM EMPLOYEE WHERE ADDRESS LIKE '%</a:t>
            </a:r>
            <a:r>
              <a:rPr lang="en-US" sz="2800" b="1" dirty="0" err="1">
                <a:solidFill>
                  <a:srgbClr val="C00000"/>
                </a:solidFill>
              </a:rPr>
              <a:t>Houston,TX</a:t>
            </a:r>
            <a:r>
              <a:rPr lang="en-US" sz="2800" b="1" dirty="0">
                <a:solidFill>
                  <a:srgbClr val="C00000"/>
                </a:solidFill>
              </a:rPr>
              <a:t>%';</a:t>
            </a:r>
          </a:p>
          <a:p>
            <a:pPr marL="0" indent="0" algn="just">
              <a:buNone/>
            </a:pPr>
            <a:r>
              <a:rPr lang="en-US" sz="2800" dirty="0"/>
              <a:t>To retrieve all employees who were born during the 1950s, we can use Query 12A. Here, '5' must be the third character of the string (according to our format for date), so we use the value '__ 5 ', with each underscore serving as a placeholder for an arbitrary character. </a:t>
            </a:r>
            <a:endParaRPr lang="en-US" sz="2800" b="1" u="sng" dirty="0">
              <a:solidFill>
                <a:srgbClr val="00B0F0"/>
              </a:solidFill>
            </a:endParaRPr>
          </a:p>
          <a:p>
            <a:endParaRPr lang="en-IN" dirty="0"/>
          </a:p>
        </p:txBody>
      </p:sp>
    </p:spTree>
    <p:extLst>
      <p:ext uri="{BB962C8B-B14F-4D97-AF65-F5344CB8AC3E}">
        <p14:creationId xmlns:p14="http://schemas.microsoft.com/office/powerpoint/2010/main" val="1393817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6849-2002-3676-808B-83A610B4E5B2}"/>
              </a:ext>
            </a:extLst>
          </p:cNvPr>
          <p:cNvSpPr>
            <a:spLocks noGrp="1"/>
          </p:cNvSpPr>
          <p:nvPr>
            <p:ph type="title"/>
          </p:nvPr>
        </p:nvSpPr>
        <p:spPr/>
        <p:txBody>
          <a:bodyPr/>
          <a:lstStyle/>
          <a:p>
            <a:r>
              <a:rPr lang="en-US" dirty="0"/>
              <a:t>Substring Pattern Matching and Arithmetic Operators</a:t>
            </a:r>
            <a:endParaRPr lang="en-IN" dirty="0"/>
          </a:p>
        </p:txBody>
      </p:sp>
      <p:sp>
        <p:nvSpPr>
          <p:cNvPr id="3" name="Content Placeholder 2">
            <a:extLst>
              <a:ext uri="{FF2B5EF4-FFF2-40B4-BE49-F238E27FC236}">
                <a16:creationId xmlns:a16="http://schemas.microsoft.com/office/drawing/2014/main" id="{30662EAE-A5A9-9BDC-945B-3333CC1AB0A7}"/>
              </a:ext>
            </a:extLst>
          </p:cNvPr>
          <p:cNvSpPr>
            <a:spLocks noGrp="1"/>
          </p:cNvSpPr>
          <p:nvPr>
            <p:ph idx="1"/>
          </p:nvPr>
        </p:nvSpPr>
        <p:spPr/>
        <p:txBody>
          <a:bodyPr/>
          <a:lstStyle/>
          <a:p>
            <a:pPr marL="0" indent="0" algn="just">
              <a:buNone/>
            </a:pPr>
            <a:r>
              <a:rPr lang="en-US" sz="2800" dirty="0"/>
              <a:t>QUERY 12A Find all employees who were born during the 1950s. </a:t>
            </a:r>
          </a:p>
          <a:p>
            <a:pPr marL="0" indent="0" algn="just">
              <a:buNone/>
            </a:pPr>
            <a:r>
              <a:rPr lang="en-US" sz="2800" b="1" dirty="0">
                <a:solidFill>
                  <a:srgbClr val="C00000"/>
                </a:solidFill>
              </a:rPr>
              <a:t>Q12A: SELECT FROM FNAME, LNAME WHERE EMPLOYEE BDATE LIKE ‘_ _ 5_ _ _ _  _ _ ';</a:t>
            </a:r>
          </a:p>
          <a:p>
            <a:endParaRPr lang="en-IN" dirty="0"/>
          </a:p>
        </p:txBody>
      </p:sp>
      <p:sp>
        <p:nvSpPr>
          <p:cNvPr id="4" name="Rectangle 1">
            <a:extLst>
              <a:ext uri="{FF2B5EF4-FFF2-40B4-BE49-F238E27FC236}">
                <a16:creationId xmlns:a16="http://schemas.microsoft.com/office/drawing/2014/main" id="{C6ED5CB2-DAB4-7337-7E3B-E975AE2E8C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rgbClr val="001D35"/>
                </a:solidFill>
                <a:effectLst/>
                <a:latin typeface="Google Sans"/>
              </a:rPr>
              <a:t>The </a:t>
            </a:r>
            <a:r>
              <a:rPr kumimoji="0" lang="en-US" altLang="en-US" sz="1300" b="0" i="0" u="none" strike="noStrike" cap="none" normalizeH="0" baseline="0">
                <a:ln>
                  <a:noFill/>
                </a:ln>
                <a:solidFill>
                  <a:srgbClr val="001D35"/>
                </a:solidFill>
                <a:effectLst/>
                <a:latin typeface="Courier New" panose="02070309020205020404" pitchFamily="49" charset="0"/>
                <a:cs typeface="Courier New" panose="02070309020205020404" pitchFamily="49" charset="0"/>
              </a:rPr>
              <a:t>IN</a:t>
            </a:r>
            <a:r>
              <a:rPr kumimoji="0" lang="en-US" altLang="en-US" sz="1300" b="0" i="0" u="none" strike="noStrike" cap="none" normalizeH="0" baseline="0">
                <a:ln>
                  <a:noFill/>
                </a:ln>
                <a:solidFill>
                  <a:srgbClr val="001D35"/>
                </a:solidFill>
                <a:effectLst/>
                <a:latin typeface="Google Sans"/>
              </a:rPr>
              <a:t> operator checks if a value exists within a list or subquery result, while </a:t>
            </a:r>
            <a:r>
              <a:rPr kumimoji="0" lang="en-US" altLang="en-US" sz="1300" b="0" i="0" u="none" strike="noStrike" cap="none" normalizeH="0" baseline="0">
                <a:ln>
                  <a:noFill/>
                </a:ln>
                <a:solidFill>
                  <a:srgbClr val="001D35"/>
                </a:solidFill>
                <a:effectLst/>
                <a:latin typeface="Courier New" panose="02070309020205020404" pitchFamily="49" charset="0"/>
                <a:cs typeface="Courier New" panose="02070309020205020404" pitchFamily="49" charset="0"/>
              </a:rPr>
              <a:t>EXISTS</a:t>
            </a:r>
            <a:r>
              <a:rPr kumimoji="0" lang="en-US" altLang="en-US" sz="1300" b="0" i="0" u="none" strike="noStrike" cap="none" normalizeH="0" baseline="0">
                <a:ln>
                  <a:noFill/>
                </a:ln>
                <a:solidFill>
                  <a:srgbClr val="001D35"/>
                </a:solidFill>
                <a:effectLst/>
                <a:latin typeface="Google Sans"/>
              </a:rPr>
              <a:t> checks if a subquery returns any rows, useful for existence checks, especially with large datasets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2627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FE773-2579-3820-9007-04557007C82A}"/>
              </a:ext>
            </a:extLst>
          </p:cNvPr>
          <p:cNvSpPr>
            <a:spLocks noGrp="1"/>
          </p:cNvSpPr>
          <p:nvPr>
            <p:ph type="title"/>
          </p:nvPr>
        </p:nvSpPr>
        <p:spPr/>
        <p:txBody>
          <a:bodyPr/>
          <a:lstStyle/>
          <a:p>
            <a:r>
              <a:rPr lang="en-US" dirty="0"/>
              <a:t>In and Exists operator</a:t>
            </a:r>
            <a:endParaRPr lang="en-IN" dirty="0"/>
          </a:p>
        </p:txBody>
      </p:sp>
      <p:sp>
        <p:nvSpPr>
          <p:cNvPr id="4" name="Rectangle 1">
            <a:extLst>
              <a:ext uri="{FF2B5EF4-FFF2-40B4-BE49-F238E27FC236}">
                <a16:creationId xmlns:a16="http://schemas.microsoft.com/office/drawing/2014/main" id="{B36F442B-D254-DBD8-DC5E-E28ECF7EEF3B}"/>
              </a:ext>
            </a:extLst>
          </p:cNvPr>
          <p:cNvSpPr>
            <a:spLocks noGrp="1" noChangeArrowheads="1"/>
          </p:cNvSpPr>
          <p:nvPr>
            <p:ph idx="1"/>
          </p:nvPr>
        </p:nvSpPr>
        <p:spPr bwMode="auto">
          <a:xfrm>
            <a:off x="838200" y="1998851"/>
            <a:ext cx="10134600" cy="4773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1D35"/>
                </a:solidFill>
                <a:effectLst/>
                <a:latin typeface="Google Sans"/>
              </a:rPr>
              <a:t>In Operator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The </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IN</a:t>
            </a:r>
            <a:r>
              <a:rPr kumimoji="0" lang="en-US" altLang="en-US" sz="2000" b="0" i="0" u="none" strike="noStrike" cap="none" normalizeH="0" baseline="0" dirty="0">
                <a:ln>
                  <a:noFill/>
                </a:ln>
                <a:solidFill>
                  <a:srgbClr val="001D35"/>
                </a:solidFill>
                <a:effectLst/>
                <a:latin typeface="Google Sans"/>
              </a:rPr>
              <a:t> operator checks if a value exists within a list or subquery result, while </a:t>
            </a:r>
            <a:r>
              <a:rPr kumimoji="0" lang="en-US" altLang="en-US" sz="20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EXISTS</a:t>
            </a:r>
            <a:r>
              <a:rPr kumimoji="0" lang="en-US" altLang="en-US" sz="2000" b="0" i="0" u="none" strike="noStrike" cap="none" normalizeH="0" baseline="0" dirty="0">
                <a:ln>
                  <a:noFill/>
                </a:ln>
                <a:solidFill>
                  <a:srgbClr val="001D35"/>
                </a:solidFill>
                <a:effectLst/>
                <a:latin typeface="Google Sans"/>
              </a:rPr>
              <a:t> checks if a subquery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 returns any rows, useful for existence checks, especially with large datasets</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sz="2000" b="0" i="0" dirty="0">
                <a:solidFill>
                  <a:srgbClr val="001D35"/>
                </a:solidFill>
                <a:effectLst/>
                <a:latin typeface="Courier New" panose="02070309020205020404" pitchFamily="49" charset="0"/>
              </a:rPr>
              <a:t>SELECT </a:t>
            </a:r>
            <a:r>
              <a:rPr lang="en-US" sz="2000" b="0" i="0" dirty="0" err="1">
                <a:solidFill>
                  <a:srgbClr val="001D35"/>
                </a:solidFill>
                <a:effectLst/>
                <a:latin typeface="Courier New" panose="02070309020205020404" pitchFamily="49" charset="0"/>
              </a:rPr>
              <a:t>column_name</a:t>
            </a:r>
            <a:r>
              <a:rPr lang="en-US" sz="2000" b="0" i="0" dirty="0">
                <a:solidFill>
                  <a:srgbClr val="001D35"/>
                </a:solidFill>
                <a:effectLst/>
                <a:latin typeface="Courier New" panose="02070309020205020404" pitchFamily="49" charset="0"/>
              </a:rPr>
              <a:t>(s) FROM </a:t>
            </a:r>
            <a:r>
              <a:rPr lang="en-US" sz="2000" b="0" i="0" dirty="0" err="1">
                <a:solidFill>
                  <a:srgbClr val="001D35"/>
                </a:solidFill>
                <a:effectLst/>
                <a:latin typeface="Courier New" panose="02070309020205020404" pitchFamily="49" charset="0"/>
              </a:rPr>
              <a:t>table_name</a:t>
            </a:r>
            <a:r>
              <a:rPr lang="en-US" sz="2000" b="0" i="0" dirty="0">
                <a:solidFill>
                  <a:srgbClr val="001D35"/>
                </a:solidFill>
                <a:effectLst/>
                <a:latin typeface="Courier New" panose="02070309020205020404" pitchFamily="49" charset="0"/>
              </a:rPr>
              <a:t> WHERE </a:t>
            </a:r>
            <a:r>
              <a:rPr lang="en-US" sz="2000" b="0" i="0" dirty="0" err="1">
                <a:solidFill>
                  <a:srgbClr val="001D35"/>
                </a:solidFill>
                <a:effectLst/>
                <a:latin typeface="Courier New" panose="02070309020205020404" pitchFamily="49" charset="0"/>
              </a:rPr>
              <a:t>column_name</a:t>
            </a:r>
            <a:r>
              <a:rPr lang="en-US" sz="2000" b="0" i="0" dirty="0">
                <a:solidFill>
                  <a:srgbClr val="001D35"/>
                </a:solidFill>
                <a:effectLst/>
                <a:latin typeface="Courier New" panose="02070309020205020404" pitchFamily="49" charset="0"/>
              </a:rPr>
              <a:t> IN (value1, value2, ...);</a:t>
            </a:r>
            <a:endParaRPr lang="en-US" sz="2000" dirty="0">
              <a:latin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ourier New" panose="02070309020205020404" pitchFamily="49" charset="0"/>
            </a:endParaRPr>
          </a:p>
          <a:p>
            <a:pPr algn="l">
              <a:spcBef>
                <a:spcPts val="1500"/>
              </a:spcBef>
              <a:spcAft>
                <a:spcPts val="750"/>
              </a:spcAft>
              <a:buNone/>
            </a:pPr>
            <a:r>
              <a:rPr lang="en-US" sz="2000" b="1" i="0" dirty="0">
                <a:solidFill>
                  <a:srgbClr val="001D35"/>
                </a:solidFill>
                <a:effectLst/>
                <a:latin typeface="Google Sans"/>
              </a:rPr>
              <a:t>EXISTS Operator:</a:t>
            </a:r>
          </a:p>
          <a:p>
            <a:pPr algn="l">
              <a:spcBef>
                <a:spcPts val="750"/>
              </a:spcBef>
              <a:spcAft>
                <a:spcPts val="600"/>
              </a:spcAft>
              <a:buFont typeface="Arial" panose="020B0604020202020204" pitchFamily="34" charset="0"/>
              <a:buChar char="•"/>
            </a:pPr>
            <a:r>
              <a:rPr lang="en-US" sz="2000" b="1" i="0" dirty="0">
                <a:solidFill>
                  <a:srgbClr val="001D35"/>
                </a:solidFill>
                <a:effectLst/>
                <a:latin typeface="Google Sans"/>
              </a:rPr>
              <a:t>Purpose:</a:t>
            </a:r>
            <a:r>
              <a:rPr lang="en-US" sz="2000" b="0" i="0" dirty="0">
                <a:solidFill>
                  <a:srgbClr val="001D35"/>
                </a:solidFill>
                <a:effectLst/>
                <a:latin typeface="Google Sans"/>
              </a:rPr>
              <a:t> Determines if a subquery returns any rows, used for existence checks.</a:t>
            </a:r>
          </a:p>
          <a:p>
            <a:pPr algn="l">
              <a:spcBef>
                <a:spcPts val="750"/>
              </a:spcBef>
              <a:spcAft>
                <a:spcPts val="600"/>
              </a:spcAft>
              <a:buFont typeface="Arial" panose="020B0604020202020204" pitchFamily="34" charset="0"/>
              <a:buChar char="•"/>
            </a:pPr>
            <a:endParaRPr lang="en-US" sz="2000" dirty="0">
              <a:solidFill>
                <a:srgbClr val="001D35"/>
              </a:solidFill>
              <a:latin typeface="Google Sans"/>
            </a:endParaRPr>
          </a:p>
          <a:p>
            <a:pPr algn="l">
              <a:spcBef>
                <a:spcPts val="750"/>
              </a:spcBef>
              <a:spcAft>
                <a:spcPts val="600"/>
              </a:spcAft>
              <a:buFont typeface="Arial" panose="020B0604020202020204" pitchFamily="34" charset="0"/>
              <a:buChar char="•"/>
            </a:pPr>
            <a:r>
              <a:rPr lang="en-US" sz="2000" b="0" i="0" dirty="0">
                <a:solidFill>
                  <a:srgbClr val="001D35"/>
                </a:solidFill>
                <a:effectLst/>
                <a:latin typeface="Courier New" panose="02070309020205020404" pitchFamily="49" charset="0"/>
              </a:rPr>
              <a:t>SELECT </a:t>
            </a:r>
            <a:r>
              <a:rPr lang="en-US" sz="2000" b="0" i="0" dirty="0" err="1">
                <a:solidFill>
                  <a:srgbClr val="001D35"/>
                </a:solidFill>
                <a:effectLst/>
                <a:latin typeface="Courier New" panose="02070309020205020404" pitchFamily="49" charset="0"/>
              </a:rPr>
              <a:t>column_name</a:t>
            </a:r>
            <a:r>
              <a:rPr lang="en-US" sz="2000" b="0" i="0" dirty="0">
                <a:solidFill>
                  <a:srgbClr val="001D35"/>
                </a:solidFill>
                <a:effectLst/>
                <a:latin typeface="Courier New" panose="02070309020205020404" pitchFamily="49" charset="0"/>
              </a:rPr>
              <a:t>(s) FROM </a:t>
            </a:r>
            <a:r>
              <a:rPr lang="en-US" sz="2000" b="0" i="0" dirty="0" err="1">
                <a:solidFill>
                  <a:srgbClr val="001D35"/>
                </a:solidFill>
                <a:effectLst/>
                <a:latin typeface="Courier New" panose="02070309020205020404" pitchFamily="49" charset="0"/>
              </a:rPr>
              <a:t>table_name</a:t>
            </a:r>
            <a:r>
              <a:rPr lang="en-US" sz="2000" b="0" i="0" dirty="0">
                <a:solidFill>
                  <a:srgbClr val="001D35"/>
                </a:solidFill>
                <a:effectLst/>
                <a:latin typeface="Courier New" panose="02070309020205020404" pitchFamily="49" charset="0"/>
              </a:rPr>
              <a:t> WHERE EXISTS (SELECT * FROM </a:t>
            </a:r>
            <a:r>
              <a:rPr lang="en-US" sz="2000" b="0" i="0" dirty="0" err="1">
                <a:solidFill>
                  <a:srgbClr val="001D35"/>
                </a:solidFill>
                <a:effectLst/>
                <a:latin typeface="Courier New" panose="02070309020205020404" pitchFamily="49" charset="0"/>
              </a:rPr>
              <a:t>another_table</a:t>
            </a:r>
            <a:r>
              <a:rPr lang="en-US" sz="2000" b="0" i="0" dirty="0">
                <a:solidFill>
                  <a:srgbClr val="001D35"/>
                </a:solidFill>
                <a:effectLst/>
                <a:latin typeface="Courier New" panose="02070309020205020404" pitchFamily="49" charset="0"/>
              </a:rPr>
              <a:t> WHERE condition);</a:t>
            </a:r>
            <a:endParaRPr lang="en-US" sz="2000" b="0" i="0" dirty="0">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FE58139E-E252-0AFA-6B21-BFA415A1FEE4}"/>
              </a:ext>
            </a:extLst>
          </p:cNvPr>
          <p:cNvSpPr>
            <a:spLocks noChangeArrowheads="1"/>
          </p:cNvSpPr>
          <p:nvPr/>
        </p:nvSpPr>
        <p:spPr bwMode="auto">
          <a:xfrm>
            <a:off x="152400" y="-220749"/>
            <a:ext cx="65" cy="7462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2572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7D037-A6B9-2E7F-0137-3FA791AAC635}"/>
              </a:ext>
            </a:extLst>
          </p:cNvPr>
          <p:cNvSpPr>
            <a:spLocks noGrp="1"/>
          </p:cNvSpPr>
          <p:nvPr>
            <p:ph type="title"/>
          </p:nvPr>
        </p:nvSpPr>
        <p:spPr/>
        <p:txBody>
          <a:bodyPr/>
          <a:lstStyle/>
          <a:p>
            <a:r>
              <a:rPr lang="en-US" dirty="0"/>
              <a:t>Where and Having clause</a:t>
            </a:r>
            <a:endParaRPr lang="en-IN" dirty="0"/>
          </a:p>
        </p:txBody>
      </p:sp>
      <p:sp>
        <p:nvSpPr>
          <p:cNvPr id="3" name="Content Placeholder 2">
            <a:extLst>
              <a:ext uri="{FF2B5EF4-FFF2-40B4-BE49-F238E27FC236}">
                <a16:creationId xmlns:a16="http://schemas.microsoft.com/office/drawing/2014/main" id="{90CFB036-0F3E-A256-B186-29699CAE4D82}"/>
              </a:ext>
            </a:extLst>
          </p:cNvPr>
          <p:cNvSpPr>
            <a:spLocks noGrp="1"/>
          </p:cNvSpPr>
          <p:nvPr>
            <p:ph idx="1"/>
          </p:nvPr>
        </p:nvSpPr>
        <p:spPr/>
        <p:txBody>
          <a:bodyPr/>
          <a:lstStyle/>
          <a:p>
            <a:r>
              <a:rPr lang="en-US" b="0" i="0" dirty="0">
                <a:solidFill>
                  <a:srgbClr val="474747"/>
                </a:solidFill>
                <a:effectLst/>
                <a:latin typeface="Google Sans"/>
              </a:rPr>
              <a:t>The SQL HAVING clause is used in combination with the GROUP BY </a:t>
            </a:r>
            <a:r>
              <a:rPr lang="en-US" b="0" i="0" dirty="0">
                <a:solidFill>
                  <a:srgbClr val="040C28"/>
                </a:solidFill>
                <a:effectLst/>
                <a:latin typeface="Google Sans"/>
              </a:rPr>
              <a:t>to filter the results by conditions that involve aggregate functions</a:t>
            </a:r>
            <a:r>
              <a:rPr lang="en-US" b="0" i="0" dirty="0">
                <a:solidFill>
                  <a:srgbClr val="474747"/>
                </a:solidFill>
                <a:effectLst/>
                <a:latin typeface="Google Sans"/>
              </a:rPr>
              <a:t>. While the WHERE clause filters individual rows, the HAVING filters groups of rows based on aggregate values.</a:t>
            </a:r>
            <a:r>
              <a:rPr lang="en-US" b="1" i="0" dirty="0">
                <a:solidFill>
                  <a:srgbClr val="01BAA4"/>
                </a:solidFill>
                <a:effectLst/>
                <a:latin typeface="Manrope"/>
              </a:rPr>
              <a:t> </a:t>
            </a:r>
          </a:p>
          <a:p>
            <a:endParaRPr lang="en-US" b="1" dirty="0">
              <a:solidFill>
                <a:srgbClr val="01BAA4"/>
              </a:solidFill>
              <a:latin typeface="Manrope"/>
            </a:endParaRPr>
          </a:p>
          <a:p>
            <a:r>
              <a:rPr lang="en-US" b="1" i="0" dirty="0">
                <a:solidFill>
                  <a:srgbClr val="01BAA4"/>
                </a:solidFill>
                <a:effectLst/>
                <a:latin typeface="Manrope"/>
              </a:rPr>
              <a:t>SELECT</a:t>
            </a:r>
            <a:r>
              <a:rPr lang="en-US" b="1" i="0" dirty="0">
                <a:solidFill>
                  <a:srgbClr val="E5E7EB"/>
                </a:solidFill>
                <a:effectLst/>
                <a:latin typeface="Manrope"/>
              </a:rPr>
              <a:t> column</a:t>
            </a:r>
            <a:r>
              <a:rPr lang="en-US" b="1" i="0" dirty="0">
                <a:solidFill>
                  <a:srgbClr val="016201"/>
                </a:solidFill>
                <a:effectLst/>
                <a:latin typeface="Manrope"/>
              </a:rPr>
              <a:t>1</a:t>
            </a:r>
            <a:r>
              <a:rPr lang="en-US" b="1" i="0" dirty="0">
                <a:solidFill>
                  <a:srgbClr val="A52A2A"/>
                </a:solidFill>
                <a:effectLst/>
                <a:latin typeface="Manrope"/>
              </a:rPr>
              <a:t>,</a:t>
            </a:r>
            <a:r>
              <a:rPr lang="en-US" b="1" i="0" dirty="0">
                <a:solidFill>
                  <a:srgbClr val="E5E7EB"/>
                </a:solidFill>
                <a:effectLst/>
                <a:latin typeface="Manrope"/>
              </a:rPr>
              <a:t> </a:t>
            </a:r>
            <a:r>
              <a:rPr lang="en-US" b="1" i="0" dirty="0">
                <a:solidFill>
                  <a:srgbClr val="FF0000"/>
                </a:solidFill>
                <a:effectLst/>
                <a:latin typeface="Manrope"/>
              </a:rPr>
              <a:t>COUNT</a:t>
            </a:r>
            <a:r>
              <a:rPr lang="en-US" b="1" i="0" dirty="0">
                <a:solidFill>
                  <a:srgbClr val="A52A2A"/>
                </a:solidFill>
                <a:effectLst/>
                <a:latin typeface="Manrope"/>
              </a:rPr>
              <a:t>(</a:t>
            </a:r>
            <a:r>
              <a:rPr lang="en-US" b="1" i="0" dirty="0">
                <a:solidFill>
                  <a:srgbClr val="E5E7EB"/>
                </a:solidFill>
                <a:effectLst/>
                <a:latin typeface="Manrope"/>
              </a:rPr>
              <a:t>column</a:t>
            </a:r>
            <a:r>
              <a:rPr lang="en-US" b="1" i="0" dirty="0">
                <a:solidFill>
                  <a:srgbClr val="016201"/>
                </a:solidFill>
                <a:effectLst/>
                <a:latin typeface="Manrope"/>
              </a:rPr>
              <a:t>2</a:t>
            </a:r>
            <a:r>
              <a:rPr lang="en-US" b="1" i="0" dirty="0">
                <a:solidFill>
                  <a:srgbClr val="A52A2A"/>
                </a:solidFill>
                <a:effectLst/>
                <a:latin typeface="Manrope"/>
              </a:rPr>
              <a:t>)</a:t>
            </a:r>
            <a:r>
              <a:rPr lang="en-US" b="1" i="0" dirty="0">
                <a:solidFill>
                  <a:srgbClr val="E5E7EB"/>
                </a:solidFill>
                <a:effectLst/>
                <a:latin typeface="Manrope"/>
              </a:rPr>
              <a:t> </a:t>
            </a:r>
            <a:r>
              <a:rPr lang="en-US" b="1" i="0" dirty="0">
                <a:solidFill>
                  <a:srgbClr val="01BAA4"/>
                </a:solidFill>
                <a:effectLst/>
                <a:latin typeface="Manrope"/>
              </a:rPr>
              <a:t>FROM</a:t>
            </a:r>
            <a:r>
              <a:rPr lang="en-US" b="1" i="0" dirty="0">
                <a:solidFill>
                  <a:srgbClr val="E5E7EB"/>
                </a:solidFill>
                <a:effectLst/>
                <a:latin typeface="Manrope"/>
              </a:rPr>
              <a:t> </a:t>
            </a:r>
            <a:r>
              <a:rPr lang="en-US" b="1" i="0" dirty="0" err="1">
                <a:solidFill>
                  <a:srgbClr val="E5E7EB"/>
                </a:solidFill>
                <a:effectLst/>
                <a:latin typeface="Manrope"/>
              </a:rPr>
              <a:t>table_name</a:t>
            </a:r>
            <a:r>
              <a:rPr lang="en-US" b="1" i="0" dirty="0">
                <a:solidFill>
                  <a:srgbClr val="E5E7EB"/>
                </a:solidFill>
                <a:effectLst/>
                <a:latin typeface="Manrope"/>
              </a:rPr>
              <a:t> </a:t>
            </a:r>
            <a:r>
              <a:rPr lang="en-US" b="1" i="0" dirty="0">
                <a:solidFill>
                  <a:srgbClr val="01BAA4"/>
                </a:solidFill>
                <a:effectLst/>
                <a:latin typeface="Manrope"/>
              </a:rPr>
              <a:t>GROUP</a:t>
            </a:r>
            <a:r>
              <a:rPr lang="en-US" b="1" i="0" dirty="0">
                <a:solidFill>
                  <a:srgbClr val="E5E7EB"/>
                </a:solidFill>
                <a:effectLst/>
                <a:latin typeface="Manrope"/>
              </a:rPr>
              <a:t> </a:t>
            </a:r>
            <a:r>
              <a:rPr lang="en-US" b="1" i="0" dirty="0">
                <a:solidFill>
                  <a:srgbClr val="01BAA4"/>
                </a:solidFill>
                <a:effectLst/>
                <a:latin typeface="Manrope"/>
              </a:rPr>
              <a:t>BY</a:t>
            </a:r>
            <a:r>
              <a:rPr lang="en-US" b="1" i="0" dirty="0">
                <a:solidFill>
                  <a:srgbClr val="E5E7EB"/>
                </a:solidFill>
                <a:effectLst/>
                <a:latin typeface="Manrope"/>
              </a:rPr>
              <a:t> column</a:t>
            </a:r>
            <a:r>
              <a:rPr lang="en-US" b="1" i="0" dirty="0">
                <a:solidFill>
                  <a:srgbClr val="016201"/>
                </a:solidFill>
                <a:effectLst/>
                <a:latin typeface="Manrope"/>
              </a:rPr>
              <a:t>1</a:t>
            </a:r>
            <a:r>
              <a:rPr lang="en-US" b="1" i="0" dirty="0">
                <a:solidFill>
                  <a:srgbClr val="E5E7EB"/>
                </a:solidFill>
                <a:effectLst/>
                <a:latin typeface="Manrope"/>
              </a:rPr>
              <a:t> </a:t>
            </a:r>
            <a:r>
              <a:rPr lang="en-US" b="1" i="0" dirty="0">
                <a:solidFill>
                  <a:srgbClr val="01BAA4"/>
                </a:solidFill>
                <a:effectLst/>
                <a:latin typeface="Manrope"/>
              </a:rPr>
              <a:t>HAVING</a:t>
            </a:r>
            <a:r>
              <a:rPr lang="en-US" b="1" i="0" dirty="0">
                <a:solidFill>
                  <a:srgbClr val="E5E7EB"/>
                </a:solidFill>
                <a:effectLst/>
                <a:latin typeface="Manrope"/>
              </a:rPr>
              <a:t> </a:t>
            </a:r>
            <a:r>
              <a:rPr lang="en-US" b="1" i="0" dirty="0">
                <a:solidFill>
                  <a:srgbClr val="FF0000"/>
                </a:solidFill>
                <a:effectLst/>
                <a:latin typeface="Manrope"/>
              </a:rPr>
              <a:t>COUNT</a:t>
            </a:r>
            <a:r>
              <a:rPr lang="en-US" b="1" i="0" dirty="0">
                <a:solidFill>
                  <a:srgbClr val="A52A2A"/>
                </a:solidFill>
                <a:effectLst/>
                <a:latin typeface="Manrope"/>
              </a:rPr>
              <a:t>(</a:t>
            </a:r>
            <a:r>
              <a:rPr lang="en-US" b="1" i="0" dirty="0">
                <a:solidFill>
                  <a:srgbClr val="E5E7EB"/>
                </a:solidFill>
                <a:effectLst/>
                <a:latin typeface="Manrope"/>
              </a:rPr>
              <a:t>column</a:t>
            </a:r>
            <a:r>
              <a:rPr lang="en-US" b="1" i="0" dirty="0">
                <a:solidFill>
                  <a:srgbClr val="016201"/>
                </a:solidFill>
                <a:effectLst/>
                <a:latin typeface="Manrope"/>
              </a:rPr>
              <a:t>2</a:t>
            </a:r>
            <a:r>
              <a:rPr lang="en-US" b="1" i="0" dirty="0">
                <a:solidFill>
                  <a:srgbClr val="A52A2A"/>
                </a:solidFill>
                <a:effectLst/>
                <a:latin typeface="Manrope"/>
              </a:rPr>
              <a:t>)</a:t>
            </a:r>
            <a:r>
              <a:rPr lang="en-US" b="1" i="0" dirty="0">
                <a:solidFill>
                  <a:srgbClr val="E5E7EB"/>
                </a:solidFill>
                <a:effectLst/>
                <a:latin typeface="Manrope"/>
              </a:rPr>
              <a:t> &gt; </a:t>
            </a:r>
            <a:r>
              <a:rPr lang="en-US" b="1" i="0" dirty="0">
                <a:solidFill>
                  <a:srgbClr val="016201"/>
                </a:solidFill>
                <a:effectLst/>
                <a:latin typeface="Manrope"/>
              </a:rPr>
              <a:t>10</a:t>
            </a:r>
            <a:r>
              <a:rPr lang="en-US" b="1" i="0" dirty="0">
                <a:solidFill>
                  <a:srgbClr val="E5E7EB"/>
                </a:solidFill>
                <a:effectLst/>
                <a:latin typeface="Manrope"/>
              </a:rPr>
              <a:t>;</a:t>
            </a:r>
            <a:endParaRPr lang="en-IN" dirty="0"/>
          </a:p>
        </p:txBody>
      </p:sp>
    </p:spTree>
    <p:extLst>
      <p:ext uri="{BB962C8B-B14F-4D97-AF65-F5344CB8AC3E}">
        <p14:creationId xmlns:p14="http://schemas.microsoft.com/office/powerpoint/2010/main" val="130169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29021-07DD-12D5-189A-ABFF9C15220C}"/>
              </a:ext>
            </a:extLst>
          </p:cNvPr>
          <p:cNvSpPr>
            <a:spLocks noGrp="1"/>
          </p:cNvSpPr>
          <p:nvPr>
            <p:ph type="title"/>
          </p:nvPr>
        </p:nvSpPr>
        <p:spPr/>
        <p:txBody>
          <a:bodyPr/>
          <a:lstStyle/>
          <a:p>
            <a:r>
              <a:rPr lang="en-US" dirty="0"/>
              <a:t>Substring Pattern Matching and Arithmetic Operators</a:t>
            </a:r>
            <a:endParaRPr lang="en-IN" dirty="0"/>
          </a:p>
        </p:txBody>
      </p:sp>
      <p:sp>
        <p:nvSpPr>
          <p:cNvPr id="3" name="Content Placeholder 2">
            <a:extLst>
              <a:ext uri="{FF2B5EF4-FFF2-40B4-BE49-F238E27FC236}">
                <a16:creationId xmlns:a16="http://schemas.microsoft.com/office/drawing/2014/main" id="{336866A3-7A4B-71FD-D72E-74EE62F39B4E}"/>
              </a:ext>
            </a:extLst>
          </p:cNvPr>
          <p:cNvSpPr>
            <a:spLocks noGrp="1"/>
          </p:cNvSpPr>
          <p:nvPr>
            <p:ph idx="1"/>
          </p:nvPr>
        </p:nvSpPr>
        <p:spPr/>
        <p:txBody>
          <a:bodyPr/>
          <a:lstStyle/>
          <a:p>
            <a:pPr marL="0" indent="0" algn="just">
              <a:buNone/>
            </a:pPr>
            <a:r>
              <a:rPr lang="en-US" sz="3200" dirty="0"/>
              <a:t>QUERY 13 Show the resulting salaries if every employee working on the '</a:t>
            </a:r>
            <a:r>
              <a:rPr lang="en-US" sz="3200" dirty="0" err="1"/>
              <a:t>ProductX</a:t>
            </a:r>
            <a:r>
              <a:rPr lang="en-US" sz="3200" dirty="0"/>
              <a:t>' project is given a 10 percent raise. </a:t>
            </a:r>
          </a:p>
          <a:p>
            <a:pPr marL="0" indent="0" algn="just">
              <a:buNone/>
            </a:pPr>
            <a:r>
              <a:rPr lang="en-US" sz="2800" b="1" dirty="0">
                <a:solidFill>
                  <a:srgbClr val="C00000"/>
                </a:solidFill>
              </a:rPr>
              <a:t>Q13: SELECT FNAME, LNAME, 1.1*SALARY AS INCREASED_SAL FROM EMPLOYEE, WORKS_ON, PROJECT</a:t>
            </a:r>
          </a:p>
          <a:p>
            <a:pPr marL="0" indent="0" algn="just">
              <a:buNone/>
            </a:pPr>
            <a:r>
              <a:rPr lang="en-US" sz="2800" b="1" dirty="0">
                <a:solidFill>
                  <a:srgbClr val="C00000"/>
                </a:solidFill>
              </a:rPr>
              <a:t>WHERE SSN=ESSN AND PNO=PNUMBER AND PNAME='</a:t>
            </a:r>
            <a:r>
              <a:rPr lang="en-US" sz="2800" b="1" dirty="0" err="1">
                <a:solidFill>
                  <a:srgbClr val="C00000"/>
                </a:solidFill>
              </a:rPr>
              <a:t>ProductX</a:t>
            </a:r>
            <a:r>
              <a:rPr lang="en-US" sz="2800" b="1" dirty="0">
                <a:solidFill>
                  <a:srgbClr val="C00000"/>
                </a:solidFill>
              </a:rPr>
              <a:t>';</a:t>
            </a:r>
          </a:p>
          <a:p>
            <a:pPr marL="0" indent="0" algn="just">
              <a:buNone/>
            </a:pPr>
            <a:r>
              <a:rPr lang="en-US" sz="2800" dirty="0"/>
              <a:t>For string data types, the concatenate operator I </a:t>
            </a:r>
            <a:r>
              <a:rPr lang="en-US" sz="2800" dirty="0" err="1"/>
              <a:t>I</a:t>
            </a:r>
            <a:r>
              <a:rPr lang="en-US" sz="2800" dirty="0"/>
              <a:t> can be used in a query to append two string values. For date, time, timestamp, and interval data types, operators include incrementing (+) or decrementing (-) a date, time, or timestamp by an interval.</a:t>
            </a:r>
            <a:endParaRPr lang="en-US" sz="2800" b="1" u="sng" dirty="0">
              <a:solidFill>
                <a:srgbClr val="00B0F0"/>
              </a:solidFill>
            </a:endParaRPr>
          </a:p>
          <a:p>
            <a:endParaRPr lang="en-IN" dirty="0"/>
          </a:p>
        </p:txBody>
      </p:sp>
    </p:spTree>
    <p:extLst>
      <p:ext uri="{BB962C8B-B14F-4D97-AF65-F5344CB8AC3E}">
        <p14:creationId xmlns:p14="http://schemas.microsoft.com/office/powerpoint/2010/main" val="2017965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F610-F2B4-9B4F-92E5-168646261835}"/>
              </a:ext>
            </a:extLst>
          </p:cNvPr>
          <p:cNvSpPr>
            <a:spLocks noGrp="1"/>
          </p:cNvSpPr>
          <p:nvPr>
            <p:ph type="title"/>
          </p:nvPr>
        </p:nvSpPr>
        <p:spPr/>
        <p:txBody>
          <a:bodyPr/>
          <a:lstStyle/>
          <a:p>
            <a:r>
              <a:rPr lang="en-US" dirty="0"/>
              <a:t>Ordering of Query Results</a:t>
            </a:r>
            <a:endParaRPr lang="en-IN" dirty="0"/>
          </a:p>
        </p:txBody>
      </p:sp>
      <p:sp>
        <p:nvSpPr>
          <p:cNvPr id="3" name="Content Placeholder 2">
            <a:extLst>
              <a:ext uri="{FF2B5EF4-FFF2-40B4-BE49-F238E27FC236}">
                <a16:creationId xmlns:a16="http://schemas.microsoft.com/office/drawing/2014/main" id="{78724894-8DDC-5C19-7957-30EC1D845C2A}"/>
              </a:ext>
            </a:extLst>
          </p:cNvPr>
          <p:cNvSpPr>
            <a:spLocks noGrp="1"/>
          </p:cNvSpPr>
          <p:nvPr>
            <p:ph idx="1"/>
          </p:nvPr>
        </p:nvSpPr>
        <p:spPr/>
        <p:txBody>
          <a:bodyPr/>
          <a:lstStyle/>
          <a:p>
            <a:pPr marL="0" indent="0" algn="just">
              <a:buNone/>
            </a:pPr>
            <a:r>
              <a:rPr lang="en-US" sz="2800" dirty="0"/>
              <a:t>SQL allows the user to order the tuples in the result of a query by the values of one or more attributes, using the ORDER BY clause. </a:t>
            </a:r>
          </a:p>
          <a:p>
            <a:pPr marL="0" indent="0" algn="just">
              <a:buNone/>
            </a:pPr>
            <a:r>
              <a:rPr lang="en-US" sz="2800" dirty="0"/>
              <a:t>QUERY 15 Retrieve a list of employees and the projects they are working on, ordered by department and, within each department, ordered alphabetically by last name, first name. </a:t>
            </a:r>
          </a:p>
          <a:p>
            <a:pPr marL="0" indent="0" algn="just">
              <a:buNone/>
            </a:pPr>
            <a:r>
              <a:rPr lang="en-US" sz="2400" b="1" dirty="0">
                <a:solidFill>
                  <a:srgbClr val="C00000"/>
                </a:solidFill>
              </a:rPr>
              <a:t>Q15: SELECT DNAME, LNAME, FNAME, PNAME FROM DEPARTMENT, EMPLOYEE, WORKS_ON, PROJECT WHERE DNUMBER=DNO AND SSN=ESSN AND PNO=PNUMBER ORDER BY DNAME, LNAME, FNAME;</a:t>
            </a:r>
          </a:p>
          <a:p>
            <a:pPr marL="0" indent="0" algn="just">
              <a:buNone/>
            </a:pPr>
            <a:r>
              <a:rPr lang="en-US" sz="2400" b="1" dirty="0">
                <a:solidFill>
                  <a:srgbClr val="C00000"/>
                </a:solidFill>
              </a:rPr>
              <a:t>Q16: ORDER BY DNAME DESC, LNAME ASC, FNAME ASC</a:t>
            </a:r>
            <a:endParaRPr lang="en-US" sz="2400" b="1" u="sng" dirty="0">
              <a:solidFill>
                <a:srgbClr val="C00000"/>
              </a:solidFill>
            </a:endParaRPr>
          </a:p>
          <a:p>
            <a:endParaRPr lang="en-IN" dirty="0"/>
          </a:p>
        </p:txBody>
      </p:sp>
    </p:spTree>
    <p:extLst>
      <p:ext uri="{BB962C8B-B14F-4D97-AF65-F5344CB8AC3E}">
        <p14:creationId xmlns:p14="http://schemas.microsoft.com/office/powerpoint/2010/main" val="1180879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CCE9-CE7E-2DE5-0A98-ED6F65E16BD6}"/>
              </a:ext>
            </a:extLst>
          </p:cNvPr>
          <p:cNvSpPr>
            <a:spLocks noGrp="1"/>
          </p:cNvSpPr>
          <p:nvPr>
            <p:ph type="title"/>
          </p:nvPr>
        </p:nvSpPr>
        <p:spPr/>
        <p:txBody>
          <a:bodyPr/>
          <a:lstStyle/>
          <a:p>
            <a:r>
              <a:rPr lang="en-US" sz="4400" b="1" dirty="0">
                <a:solidFill>
                  <a:srgbClr val="002060"/>
                </a:solidFill>
              </a:rPr>
              <a:t>INSERT, DELETE, AND UPDATE STATEMENTS IN SQL</a:t>
            </a:r>
            <a:endParaRPr lang="en-IN" dirty="0"/>
          </a:p>
        </p:txBody>
      </p:sp>
      <p:sp>
        <p:nvSpPr>
          <p:cNvPr id="3" name="Content Placeholder 2">
            <a:extLst>
              <a:ext uri="{FF2B5EF4-FFF2-40B4-BE49-F238E27FC236}">
                <a16:creationId xmlns:a16="http://schemas.microsoft.com/office/drawing/2014/main" id="{25C3737E-A251-17CD-A08D-B87909A5283E}"/>
              </a:ext>
            </a:extLst>
          </p:cNvPr>
          <p:cNvSpPr>
            <a:spLocks noGrp="1"/>
          </p:cNvSpPr>
          <p:nvPr>
            <p:ph idx="1"/>
          </p:nvPr>
        </p:nvSpPr>
        <p:spPr/>
        <p:txBody>
          <a:bodyPr>
            <a:normAutofit lnSpcReduction="10000"/>
          </a:bodyPr>
          <a:lstStyle/>
          <a:p>
            <a:pPr marL="0" indent="0" algn="just">
              <a:buNone/>
            </a:pPr>
            <a:r>
              <a:rPr lang="en-US" sz="2800" dirty="0"/>
              <a:t>INSERT is used to add a single tuple to a relation. We must specify the relation name and a list of values for the tuple.</a:t>
            </a:r>
          </a:p>
          <a:p>
            <a:pPr marL="0" indent="0" algn="just">
              <a:buNone/>
            </a:pPr>
            <a:r>
              <a:rPr lang="en-US" sz="2800" b="1" dirty="0">
                <a:solidFill>
                  <a:srgbClr val="C00000"/>
                </a:solidFill>
              </a:rPr>
              <a:t>&gt;&gt;&gt;INSERT INTO EMPLOYEE VALUES ('Richard', 'K', 'Marini', '653298653', '1962-12-30', '98 Oak Forest, Katy, TX', 'M', 37000, '987654321', 4)</a:t>
            </a:r>
            <a:r>
              <a:rPr lang="en-US" sz="2800" b="1" u="sng" dirty="0">
                <a:solidFill>
                  <a:srgbClr val="C00000"/>
                </a:solidFill>
              </a:rPr>
              <a:t> </a:t>
            </a:r>
            <a:r>
              <a:rPr lang="en-US" sz="2800" b="1" dirty="0">
                <a:solidFill>
                  <a:srgbClr val="C00000"/>
                </a:solidFill>
              </a:rPr>
              <a:t> </a:t>
            </a:r>
          </a:p>
          <a:p>
            <a:pPr marL="0" indent="0">
              <a:buNone/>
            </a:pPr>
            <a:r>
              <a:rPr lang="en-US" sz="2800" b="1" dirty="0">
                <a:solidFill>
                  <a:srgbClr val="C00000"/>
                </a:solidFill>
              </a:rPr>
              <a:t>&gt;&gt;&gt;INSERT INTO EMPLOYEE (FNAME, LNAME, DNO, SSN) VALUES('Richard', 'Marini', 4, '653298653');</a:t>
            </a:r>
          </a:p>
          <a:p>
            <a:pPr marL="0" indent="0" algn="just">
              <a:buNone/>
            </a:pPr>
            <a:r>
              <a:rPr lang="en-US" sz="2800" dirty="0"/>
              <a:t>INSERT INTO EMPLOYEE (FNAME, LNAME, DNO) VALUES ('Robert', 'Hatcher', 5); </a:t>
            </a:r>
          </a:p>
          <a:p>
            <a:pPr marL="0" indent="0" algn="just">
              <a:buNone/>
            </a:pPr>
            <a:r>
              <a:rPr lang="en-US" sz="2800" dirty="0"/>
              <a:t>(* It is rejected if not null checking is provided by </a:t>
            </a:r>
            <a:r>
              <a:rPr lang="en-US" sz="2800" dirty="0" err="1"/>
              <a:t>dbms</a:t>
            </a:r>
            <a:r>
              <a:rPr lang="en-US" sz="2800" dirty="0"/>
              <a:t> [</a:t>
            </a:r>
            <a:r>
              <a:rPr lang="en-US" sz="2800" dirty="0" err="1"/>
              <a:t>ssn</a:t>
            </a:r>
            <a:r>
              <a:rPr lang="en-US" sz="2800" dirty="0"/>
              <a:t>]*)</a:t>
            </a:r>
            <a:endParaRPr lang="en-US" sz="2800" b="1" dirty="0">
              <a:solidFill>
                <a:srgbClr val="C00000"/>
              </a:solidFill>
            </a:endParaRPr>
          </a:p>
        </p:txBody>
      </p:sp>
    </p:spTree>
    <p:extLst>
      <p:ext uri="{BB962C8B-B14F-4D97-AF65-F5344CB8AC3E}">
        <p14:creationId xmlns:p14="http://schemas.microsoft.com/office/powerpoint/2010/main" val="3035541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7E64A-65D3-412F-952A-D8BAF6191F07}"/>
              </a:ext>
            </a:extLst>
          </p:cNvPr>
          <p:cNvSpPr>
            <a:spLocks noGrp="1"/>
          </p:cNvSpPr>
          <p:nvPr>
            <p:ph type="title"/>
          </p:nvPr>
        </p:nvSpPr>
        <p:spPr/>
        <p:txBody>
          <a:bodyPr>
            <a:normAutofit/>
          </a:bodyPr>
          <a:lstStyle/>
          <a:p>
            <a:r>
              <a:rPr lang="en-US" dirty="0"/>
              <a:t>Delete command</a:t>
            </a:r>
            <a:endParaRPr lang="en-IN" dirty="0"/>
          </a:p>
        </p:txBody>
      </p:sp>
      <p:sp>
        <p:nvSpPr>
          <p:cNvPr id="3" name="Content Placeholder 2">
            <a:extLst>
              <a:ext uri="{FF2B5EF4-FFF2-40B4-BE49-F238E27FC236}">
                <a16:creationId xmlns:a16="http://schemas.microsoft.com/office/drawing/2014/main" id="{7DD358F2-7A99-CAF3-2945-2D7EC30F32F6}"/>
              </a:ext>
            </a:extLst>
          </p:cNvPr>
          <p:cNvSpPr>
            <a:spLocks noGrp="1"/>
          </p:cNvSpPr>
          <p:nvPr>
            <p:ph idx="1"/>
          </p:nvPr>
        </p:nvSpPr>
        <p:spPr/>
        <p:txBody>
          <a:bodyPr/>
          <a:lstStyle/>
          <a:p>
            <a:pPr marL="0" indent="0" algn="just">
              <a:buNone/>
            </a:pPr>
            <a:r>
              <a:rPr lang="en-US" sz="2800" dirty="0"/>
              <a:t>The DELETE command removes tuples from a relation. It includes a WHERE clause, similar to that used in an SQL query, to select the tuples to be deleted.</a:t>
            </a:r>
          </a:p>
          <a:p>
            <a:pPr marL="0" indent="0" algn="just">
              <a:buNone/>
            </a:pPr>
            <a:r>
              <a:rPr lang="en-US" sz="2800" b="1" dirty="0">
                <a:solidFill>
                  <a:srgbClr val="C00000"/>
                </a:solidFill>
              </a:rPr>
              <a:t>&gt;&gt;&gt;DELETE FROM EMPLOYEE WHERE LNAME='Brown';</a:t>
            </a:r>
          </a:p>
          <a:p>
            <a:pPr marL="0" indent="0" algn="just">
              <a:buNone/>
            </a:pPr>
            <a:r>
              <a:rPr lang="en-US" sz="2800" b="1" dirty="0">
                <a:solidFill>
                  <a:srgbClr val="C00000"/>
                </a:solidFill>
              </a:rPr>
              <a:t>&gt;&gt;&gt;DELETE FROM EMPLOYEE</a:t>
            </a:r>
          </a:p>
          <a:p>
            <a:endParaRPr lang="en-IN" dirty="0"/>
          </a:p>
        </p:txBody>
      </p:sp>
    </p:spTree>
    <p:extLst>
      <p:ext uri="{BB962C8B-B14F-4D97-AF65-F5344CB8AC3E}">
        <p14:creationId xmlns:p14="http://schemas.microsoft.com/office/powerpoint/2010/main" val="696476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03013-7FA4-FDC5-7854-3754EF625B6C}"/>
              </a:ext>
            </a:extLst>
          </p:cNvPr>
          <p:cNvSpPr>
            <a:spLocks noGrp="1"/>
          </p:cNvSpPr>
          <p:nvPr>
            <p:ph type="title"/>
          </p:nvPr>
        </p:nvSpPr>
        <p:spPr/>
        <p:txBody>
          <a:bodyPr/>
          <a:lstStyle/>
          <a:p>
            <a:r>
              <a:rPr lang="en-US" dirty="0"/>
              <a:t>Update Command</a:t>
            </a:r>
            <a:endParaRPr lang="en-IN" dirty="0"/>
          </a:p>
        </p:txBody>
      </p:sp>
      <p:sp>
        <p:nvSpPr>
          <p:cNvPr id="3" name="Content Placeholder 2">
            <a:extLst>
              <a:ext uri="{FF2B5EF4-FFF2-40B4-BE49-F238E27FC236}">
                <a16:creationId xmlns:a16="http://schemas.microsoft.com/office/drawing/2014/main" id="{D41551A6-1637-714B-DA5F-AAE350D1991B}"/>
              </a:ext>
            </a:extLst>
          </p:cNvPr>
          <p:cNvSpPr>
            <a:spLocks noGrp="1"/>
          </p:cNvSpPr>
          <p:nvPr>
            <p:ph idx="1"/>
          </p:nvPr>
        </p:nvSpPr>
        <p:spPr/>
        <p:txBody>
          <a:bodyPr/>
          <a:lstStyle/>
          <a:p>
            <a:pPr marL="0" indent="0" algn="just">
              <a:buNone/>
            </a:pPr>
            <a:r>
              <a:rPr lang="en-US" sz="2800" dirty="0"/>
              <a:t>The UPDATE command is used to modify attribute values of one or more selected tuples. An additional SET clause in the UPDATE command specifies the attributes to be modified and their new values.</a:t>
            </a:r>
          </a:p>
          <a:p>
            <a:pPr marL="0" indent="0" algn="just">
              <a:buNone/>
            </a:pPr>
            <a:r>
              <a:rPr lang="en-US" sz="2800" dirty="0"/>
              <a:t>An example is to give all employees in the 'Research' department a 10 percent raise in salary</a:t>
            </a:r>
          </a:p>
          <a:p>
            <a:pPr marL="0" indent="0" algn="just">
              <a:buNone/>
            </a:pPr>
            <a:r>
              <a:rPr lang="en-US" sz="2800" b="1" dirty="0">
                <a:solidFill>
                  <a:srgbClr val="C00000"/>
                </a:solidFill>
              </a:rPr>
              <a:t>UPDATE EMPLOYEE SET SALARY = SALARY *1.1 WHERE DNO IN (SELECT DNUMBER FROM DEPARTMENT WHERE DNAME='Research')</a:t>
            </a:r>
          </a:p>
          <a:p>
            <a:endParaRPr lang="en-IN" dirty="0"/>
          </a:p>
        </p:txBody>
      </p:sp>
    </p:spTree>
    <p:extLst>
      <p:ext uri="{BB962C8B-B14F-4D97-AF65-F5344CB8AC3E}">
        <p14:creationId xmlns:p14="http://schemas.microsoft.com/office/powerpoint/2010/main" val="882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289CBA-35F7-4BC0-5498-78BEC7B645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73450" y="949007"/>
            <a:ext cx="5245100" cy="4959985"/>
          </a:xfrm>
          <a:prstGeom prst="rect">
            <a:avLst/>
          </a:prstGeom>
          <a:noFill/>
          <a:ln>
            <a:noFill/>
          </a:ln>
        </p:spPr>
      </p:pic>
    </p:spTree>
    <p:extLst>
      <p:ext uri="{BB962C8B-B14F-4D97-AF65-F5344CB8AC3E}">
        <p14:creationId xmlns:p14="http://schemas.microsoft.com/office/powerpoint/2010/main" val="1111972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F940-6667-DA9A-77C1-13F39DC68430}"/>
              </a:ext>
            </a:extLst>
          </p:cNvPr>
          <p:cNvSpPr>
            <a:spLocks noGrp="1"/>
          </p:cNvSpPr>
          <p:nvPr>
            <p:ph type="title"/>
          </p:nvPr>
        </p:nvSpPr>
        <p:spPr/>
        <p:txBody>
          <a:bodyPr/>
          <a:lstStyle/>
          <a:p>
            <a:r>
              <a:rPr lang="en-US" dirty="0"/>
              <a:t>Explanation</a:t>
            </a:r>
            <a:endParaRPr lang="en-IN" dirty="0"/>
          </a:p>
        </p:txBody>
      </p:sp>
      <p:sp>
        <p:nvSpPr>
          <p:cNvPr id="3" name="Content Placeholder 2">
            <a:extLst>
              <a:ext uri="{FF2B5EF4-FFF2-40B4-BE49-F238E27FC236}">
                <a16:creationId xmlns:a16="http://schemas.microsoft.com/office/drawing/2014/main" id="{C7F5C74B-728E-7F3A-B77B-728E36EB2571}"/>
              </a:ext>
            </a:extLst>
          </p:cNvPr>
          <p:cNvSpPr>
            <a:spLocks noGrp="1"/>
          </p:cNvSpPr>
          <p:nvPr>
            <p:ph idx="1"/>
          </p:nvPr>
        </p:nvSpPr>
        <p:spPr/>
        <p:txBody>
          <a:bodyPr>
            <a:normAutofit fontScale="92500" lnSpcReduction="20000"/>
          </a:bodyPr>
          <a:lstStyle/>
          <a:p>
            <a:r>
              <a:rPr lang="en-US" sz="1800" dirty="0">
                <a:latin typeface="MinionPro-Regular"/>
                <a:ea typeface="Calibri" panose="020F0502020204030204" pitchFamily="34" charset="0"/>
                <a:cs typeface="MinionPro-Regular"/>
              </a:rPr>
              <a:t>Top of the diagram,</a:t>
            </a:r>
            <a:r>
              <a:rPr lang="en-US" sz="1800" dirty="0">
                <a:effectLst/>
                <a:latin typeface="MinionPro-Regular"/>
                <a:ea typeface="Calibri" panose="020F0502020204030204" pitchFamily="34" charset="0"/>
                <a:cs typeface="MinionPro-Regular"/>
              </a:rPr>
              <a:t> DBA staff, casual users who work with interactive interfaces to formulate queries, application programmers who create programs using some host programming languages, and parametric users who do data entry work by supplying parameters to predefined transactions.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MinionPro-Regular"/>
                <a:ea typeface="Calibri" panose="020F0502020204030204" pitchFamily="34" charset="0"/>
                <a:cs typeface="MinionPro-Regular"/>
              </a:rPr>
              <a:t>The DBA staff works on defining the database and tuning it by making changes to its definition using the DDL and other privileged commands.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MinionPro-Regular"/>
                <a:ea typeface="Calibri" panose="020F0502020204030204" pitchFamily="34" charset="0"/>
                <a:cs typeface="MinionPro-Regular"/>
              </a:rPr>
              <a:t>The DDL compiler processes schema definitions, specified in the DDL, and stores descriptions of the schemas (meta-data) in the DBMS catalog.</a:t>
            </a:r>
          </a:p>
          <a:p>
            <a:r>
              <a:rPr lang="en-US" sz="1800" dirty="0">
                <a:effectLst/>
                <a:latin typeface="MinionPro-Regular"/>
                <a:ea typeface="Calibri" panose="020F0502020204030204" pitchFamily="34" charset="0"/>
                <a:cs typeface="MinionPro-Regular"/>
              </a:rPr>
              <a:t> The catalog includes information such as the names and sizes of files, names and data types of data items, storage details of each file, mapping information among schemas, and constraints.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MinionPro-Regular"/>
                <a:ea typeface="Calibri" panose="020F0502020204030204" pitchFamily="34" charset="0"/>
                <a:cs typeface="MinionPro-Regular"/>
              </a:rPr>
              <a:t>Casual users and persons with occasional need for information from the database interact using the </a:t>
            </a:r>
            <a:r>
              <a:rPr lang="en-US" sz="1800" b="1" dirty="0">
                <a:effectLst/>
                <a:latin typeface="MinionPro-Bold"/>
                <a:cs typeface="MinionPro-Bold"/>
              </a:rPr>
              <a:t>interactive query </a:t>
            </a:r>
            <a:r>
              <a:rPr lang="en-US" sz="1800" dirty="0">
                <a:effectLst/>
                <a:latin typeface="MinionPro-Regular"/>
                <a:ea typeface="Calibri" panose="020F0502020204030204" pitchFamily="34" charset="0"/>
                <a:cs typeface="MinionPro-Regular"/>
              </a:rPr>
              <a:t>interface in Figure 2.3. </a:t>
            </a:r>
          </a:p>
          <a:p>
            <a:r>
              <a:rPr lang="en-US" sz="1800" dirty="0">
                <a:effectLst/>
                <a:latin typeface="MinionPro-Regular"/>
                <a:ea typeface="Calibri" panose="020F0502020204030204" pitchFamily="34" charset="0"/>
                <a:cs typeface="MinionPro-Regular"/>
              </a:rPr>
              <a:t>These queries are parsed and validated for correctness of the query syntax, the names of files and data elements, and so on by a </a:t>
            </a:r>
            <a:r>
              <a:rPr lang="en-US" sz="1800" b="1" dirty="0">
                <a:effectLst/>
                <a:latin typeface="MinionPro-Bold"/>
                <a:cs typeface="MinionPro-Bold"/>
              </a:rPr>
              <a:t>query compiler </a:t>
            </a:r>
            <a:r>
              <a:rPr lang="en-US" sz="1800" dirty="0">
                <a:effectLst/>
                <a:latin typeface="MinionPro-Regular"/>
                <a:ea typeface="Calibri" panose="020F0502020204030204" pitchFamily="34" charset="0"/>
                <a:cs typeface="MinionPro-Regular"/>
              </a:rPr>
              <a:t>that compiles them into an internal form.</a:t>
            </a:r>
          </a:p>
          <a:p>
            <a:r>
              <a:rPr lang="en-US" sz="1800" dirty="0">
                <a:effectLst/>
                <a:latin typeface="MinionPro-Regular"/>
                <a:ea typeface="Calibri" panose="020F0502020204030204" pitchFamily="34" charset="0"/>
                <a:cs typeface="MinionPro-Regular"/>
              </a:rPr>
              <a:t>.This internal query is subjected to query optimization </a:t>
            </a:r>
            <a:r>
              <a:rPr lang="en-US" sz="1800" b="1" dirty="0">
                <a:effectLst/>
                <a:latin typeface="MinionPro-Bold"/>
                <a:cs typeface="MinionPro-Bold"/>
              </a:rPr>
              <a:t>query optimizer </a:t>
            </a:r>
            <a:r>
              <a:rPr lang="en-US" sz="1800" dirty="0">
                <a:effectLst/>
                <a:latin typeface="MinionPro-Regular"/>
                <a:ea typeface="MinionPro-Bold"/>
                <a:cs typeface="MinionPro-Regular"/>
              </a:rPr>
              <a:t>is concerned with the rearrangement and possible reordering of operations, elimination of redundancies, and use of efficient search algorithms during execution.</a:t>
            </a:r>
          </a:p>
          <a:p>
            <a:r>
              <a:rPr lang="en-US" sz="1800" dirty="0">
                <a:effectLst/>
                <a:latin typeface="MinionPro-Regular"/>
                <a:ea typeface="Calibri" panose="020F0502020204030204" pitchFamily="34" charset="0"/>
                <a:cs typeface="MinionPro-Regular"/>
              </a:rPr>
              <a:t>It consults the system catalog for statistical and other physical information about the stored data and generates executable code that performs the necessary operations for the query and makes calls on the runtime processor.</a:t>
            </a:r>
            <a:endParaRPr lang="en-IN" dirty="0"/>
          </a:p>
        </p:txBody>
      </p:sp>
    </p:spTree>
    <p:extLst>
      <p:ext uri="{BB962C8B-B14F-4D97-AF65-F5344CB8AC3E}">
        <p14:creationId xmlns:p14="http://schemas.microsoft.com/office/powerpoint/2010/main" val="1667995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92744-082A-8E37-DC7A-BFC1B31518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D9427B-475D-FC71-8CA9-6F3963749A32}"/>
              </a:ext>
            </a:extLst>
          </p:cNvPr>
          <p:cNvSpPr>
            <a:spLocks noGrp="1"/>
          </p:cNvSpPr>
          <p:nvPr>
            <p:ph idx="1"/>
          </p:nvPr>
        </p:nvSpPr>
        <p:spPr/>
        <p:txBody>
          <a:bodyPr>
            <a:normAutofit fontScale="85000" lnSpcReduction="20000"/>
          </a:bodyPr>
          <a:lstStyle/>
          <a:p>
            <a:pPr algn="just">
              <a:lnSpc>
                <a:spcPct val="115000"/>
              </a:lnSpc>
              <a:spcAft>
                <a:spcPts val="1000"/>
              </a:spcAft>
            </a:pPr>
            <a:r>
              <a:rPr lang="en-US" sz="1800" dirty="0">
                <a:effectLst/>
                <a:latin typeface="MinionPro-Regular"/>
                <a:ea typeface="Calibri" panose="020F0502020204030204" pitchFamily="34" charset="0"/>
                <a:cs typeface="MinionPro-Regular"/>
              </a:rPr>
              <a:t>Application programmers write programs in host languages such as Java, C, or C++ that are submitted to a </a:t>
            </a:r>
            <a:r>
              <a:rPr lang="en-US" sz="1800" dirty="0" err="1">
                <a:effectLst/>
                <a:latin typeface="MinionPro-Regular"/>
                <a:ea typeface="Calibri" panose="020F0502020204030204" pitchFamily="34" charset="0"/>
                <a:cs typeface="MinionPro-Regular"/>
              </a:rPr>
              <a:t>precompiler</a:t>
            </a:r>
            <a:r>
              <a:rPr lang="en-US" sz="1800" dirty="0">
                <a:effectLst/>
                <a:latin typeface="MinionPro-Regular"/>
                <a:ea typeface="Calibri" panose="020F0502020204030204" pitchFamily="34" charset="0"/>
                <a:cs typeface="MinionPro-Regular"/>
              </a:rPr>
              <a:t>. </a:t>
            </a:r>
          </a:p>
          <a:p>
            <a:pPr algn="just">
              <a:lnSpc>
                <a:spcPct val="115000"/>
              </a:lnSpc>
              <a:spcAft>
                <a:spcPts val="1000"/>
              </a:spcAft>
            </a:pPr>
            <a:r>
              <a:rPr lang="en-US" sz="1800" dirty="0">
                <a:effectLst/>
                <a:latin typeface="MinionPro-Regular"/>
                <a:ea typeface="Calibri" panose="020F0502020204030204" pitchFamily="34" charset="0"/>
                <a:cs typeface="MinionPro-Regular"/>
              </a:rPr>
              <a:t>The </a:t>
            </a:r>
            <a:r>
              <a:rPr lang="en-US" sz="1800" b="1" dirty="0" err="1">
                <a:effectLst/>
                <a:latin typeface="MinionPro-Bold"/>
                <a:ea typeface="Calibri" panose="020F0502020204030204" pitchFamily="34" charset="0"/>
                <a:cs typeface="MinionPro-Bold"/>
              </a:rPr>
              <a:t>precompiler</a:t>
            </a:r>
            <a:r>
              <a:rPr lang="en-US" sz="1800" b="1" dirty="0">
                <a:effectLst/>
                <a:latin typeface="MinionPro-Bold"/>
                <a:ea typeface="Calibri" panose="020F0502020204030204" pitchFamily="34" charset="0"/>
                <a:cs typeface="MinionPro-Bold"/>
              </a:rPr>
              <a:t> </a:t>
            </a:r>
            <a:r>
              <a:rPr lang="en-US" sz="1800" dirty="0">
                <a:effectLst/>
                <a:latin typeface="MinionPro-Regular"/>
                <a:ea typeface="Calibri" panose="020F0502020204030204" pitchFamily="34" charset="0"/>
                <a:cs typeface="MinionPro-Regular"/>
              </a:rPr>
              <a:t>extracts DML commands from an application program written in a host programming language.</a:t>
            </a:r>
          </a:p>
          <a:p>
            <a:pPr algn="just">
              <a:lnSpc>
                <a:spcPct val="115000"/>
              </a:lnSpc>
              <a:spcAft>
                <a:spcPts val="1000"/>
              </a:spcAft>
            </a:pPr>
            <a:r>
              <a:rPr lang="en-US" sz="1800" dirty="0">
                <a:effectLst/>
                <a:latin typeface="MinionPro-Regular"/>
                <a:ea typeface="Calibri" panose="020F0502020204030204" pitchFamily="34" charset="0"/>
                <a:cs typeface="MinionPro-Regular"/>
              </a:rPr>
              <a:t> These commands are sent to the DML compiler for compilation into object code for database access. </a:t>
            </a:r>
          </a:p>
          <a:p>
            <a:pPr algn="just">
              <a:lnSpc>
                <a:spcPct val="115000"/>
              </a:lnSpc>
              <a:spcAft>
                <a:spcPts val="1000"/>
              </a:spcAft>
            </a:pPr>
            <a:r>
              <a:rPr lang="en-US" sz="1800" dirty="0">
                <a:effectLst/>
                <a:latin typeface="MinionPro-Regular"/>
                <a:ea typeface="Calibri" panose="020F0502020204030204" pitchFamily="34" charset="0"/>
                <a:cs typeface="MinionPro-Regular"/>
              </a:rPr>
              <a:t>The rest of the program is sent to the host language compiler. </a:t>
            </a:r>
          </a:p>
          <a:p>
            <a:pPr algn="just">
              <a:lnSpc>
                <a:spcPct val="115000"/>
              </a:lnSpc>
              <a:spcAft>
                <a:spcPts val="1000"/>
              </a:spcAft>
            </a:pPr>
            <a:r>
              <a:rPr lang="en-US" sz="1800" dirty="0">
                <a:effectLst/>
                <a:latin typeface="MinionPro-Regular"/>
                <a:ea typeface="Calibri" panose="020F0502020204030204" pitchFamily="34" charset="0"/>
                <a:cs typeface="MinionPro-Regular"/>
              </a:rPr>
              <a:t>The object codes for the DML commands and the rest of the program are linked, forming a canned transaction whose executable code includes calls to the runtime database</a:t>
            </a:r>
            <a:r>
              <a:rPr lang="en-US" sz="1800" dirty="0">
                <a:effectLst/>
                <a:latin typeface="Calibri" panose="020F0502020204030204" pitchFamily="34" charset="0"/>
                <a:ea typeface="Calibri" panose="020F0502020204030204" pitchFamily="34" charset="0"/>
                <a:cs typeface="Times New Roman" panose="02020603050405020304" pitchFamily="18" charset="0"/>
              </a:rPr>
              <a:t> processor.</a:t>
            </a:r>
          </a:p>
          <a:p>
            <a:pPr algn="just">
              <a:lnSpc>
                <a:spcPct val="115000"/>
              </a:lnSpc>
              <a:spcAft>
                <a:spcPts val="1000"/>
              </a:spcAft>
            </a:pPr>
            <a:r>
              <a:rPr lang="en-US" sz="1800" dirty="0">
                <a:effectLst/>
                <a:latin typeface="MinionPro-Regular"/>
                <a:ea typeface="Calibri" panose="020F0502020204030204" pitchFamily="34" charset="0"/>
                <a:cs typeface="MinionPro-Regular"/>
              </a:rPr>
              <a:t>the </a:t>
            </a:r>
            <a:r>
              <a:rPr lang="en-US" sz="1800" b="1" dirty="0">
                <a:effectLst/>
                <a:latin typeface="MinionPro-Bold"/>
                <a:ea typeface="Calibri" panose="020F0502020204030204" pitchFamily="34" charset="0"/>
                <a:cs typeface="MinionPro-Bold"/>
              </a:rPr>
              <a:t>runtime database processor </a:t>
            </a:r>
            <a:r>
              <a:rPr lang="en-US" sz="1800" dirty="0">
                <a:effectLst/>
                <a:latin typeface="MinionPro-Regular"/>
                <a:ea typeface="Calibri" panose="020F0502020204030204" pitchFamily="34" charset="0"/>
                <a:cs typeface="MinionPro-Regular"/>
              </a:rPr>
              <a:t>executes (1) the privileged commands, (2) the executable query plans, and (3) the canned transactions with runtime parameters.</a:t>
            </a:r>
          </a:p>
          <a:p>
            <a:pPr algn="just">
              <a:lnSpc>
                <a:spcPct val="115000"/>
              </a:lnSpc>
              <a:spcAft>
                <a:spcPts val="1000"/>
              </a:spcAft>
            </a:pPr>
            <a:r>
              <a:rPr lang="en-US" sz="1800" dirty="0">
                <a:effectLst/>
                <a:latin typeface="MinionPro-Regular"/>
                <a:ea typeface="Calibri" panose="020F0502020204030204" pitchFamily="34" charset="0"/>
                <a:cs typeface="MinionPro-Regular"/>
              </a:rPr>
              <a:t> It works with the </a:t>
            </a:r>
            <a:r>
              <a:rPr lang="en-US" sz="1800" b="1" dirty="0">
                <a:effectLst/>
                <a:latin typeface="MinionPro-Bold"/>
                <a:ea typeface="Calibri" panose="020F0502020204030204" pitchFamily="34" charset="0"/>
                <a:cs typeface="MinionPro-Bold"/>
              </a:rPr>
              <a:t>system catalog </a:t>
            </a:r>
            <a:r>
              <a:rPr lang="en-US" sz="1800" dirty="0">
                <a:effectLst/>
                <a:latin typeface="MinionPro-Regular"/>
                <a:ea typeface="Calibri" panose="020F0502020204030204" pitchFamily="34" charset="0"/>
                <a:cs typeface="MinionPro-Regular"/>
              </a:rPr>
              <a:t>and may update it with statistics. It also works with the </a:t>
            </a:r>
            <a:r>
              <a:rPr lang="en-US" sz="1800" b="1" dirty="0">
                <a:effectLst/>
                <a:latin typeface="MinionPro-Bold"/>
                <a:ea typeface="Calibri" panose="020F0502020204030204" pitchFamily="34" charset="0"/>
                <a:cs typeface="MinionPro-Bold"/>
              </a:rPr>
              <a:t>stored data manager</a:t>
            </a:r>
            <a:r>
              <a:rPr lang="en-US" sz="1800" dirty="0">
                <a:effectLst/>
                <a:latin typeface="MinionPro-Regular"/>
                <a:ea typeface="Calibri" panose="020F0502020204030204" pitchFamily="34" charset="0"/>
                <a:cs typeface="MinionPro-Regular"/>
              </a:rPr>
              <a:t>, which in turn uses basic operating system services for carrying out low-level input/output (read/write) operations between the disk and main memory. The runtime database processor handles other aspects of data transfer, such as management of buffers in the main memory.</a:t>
            </a:r>
            <a:r>
              <a:rPr lang="en-US" sz="1800" b="1" dirty="0">
                <a:effectLst/>
                <a:latin typeface="MinionPro-Bold"/>
                <a:ea typeface="Calibri" panose="020F0502020204030204" pitchFamily="34" charset="0"/>
                <a:cs typeface="MinionPro-Bold"/>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IN" dirty="0"/>
          </a:p>
        </p:txBody>
      </p:sp>
    </p:spTree>
    <p:extLst>
      <p:ext uri="{BB962C8B-B14F-4D97-AF65-F5344CB8AC3E}">
        <p14:creationId xmlns:p14="http://schemas.microsoft.com/office/powerpoint/2010/main" val="2176861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2D2C7-E2FD-4D97-A0AE-AC0E28D920A7}"/>
              </a:ext>
            </a:extLst>
          </p:cNvPr>
          <p:cNvSpPr>
            <a:spLocks noGrp="1"/>
          </p:cNvSpPr>
          <p:nvPr>
            <p:ph type="title"/>
          </p:nvPr>
        </p:nvSpPr>
        <p:spPr/>
        <p:txBody>
          <a:bodyPr/>
          <a:lstStyle/>
          <a:p>
            <a:r>
              <a:rPr lang="en-US" dirty="0"/>
              <a:t>Lab experiment 4</a:t>
            </a:r>
            <a:endParaRPr lang="en-IN" dirty="0"/>
          </a:p>
        </p:txBody>
      </p:sp>
      <p:sp>
        <p:nvSpPr>
          <p:cNvPr id="3" name="Content Placeholder 2">
            <a:extLst>
              <a:ext uri="{FF2B5EF4-FFF2-40B4-BE49-F238E27FC236}">
                <a16:creationId xmlns:a16="http://schemas.microsoft.com/office/drawing/2014/main" id="{9A3D9252-FE02-BC8C-C449-B40DFA46E0E4}"/>
              </a:ext>
            </a:extLst>
          </p:cNvPr>
          <p:cNvSpPr>
            <a:spLocks noGrp="1"/>
          </p:cNvSpPr>
          <p:nvPr>
            <p:ph idx="1"/>
          </p:nvPr>
        </p:nvSpPr>
        <p:spPr/>
        <p:txBody>
          <a:bodyPr>
            <a:normAutofit fontScale="62500" lnSpcReduction="20000"/>
          </a:bodyPr>
          <a:lstStyle/>
          <a:p>
            <a:r>
              <a:rPr lang="en-IN" dirty="0"/>
              <a:t>set </a:t>
            </a:r>
            <a:r>
              <a:rPr lang="en-IN" dirty="0" err="1"/>
              <a:t>linesize</a:t>
            </a:r>
            <a:r>
              <a:rPr lang="en-IN" dirty="0"/>
              <a:t> 200;</a:t>
            </a:r>
          </a:p>
          <a:p>
            <a:endParaRPr lang="en-IN" dirty="0"/>
          </a:p>
          <a:p>
            <a:r>
              <a:rPr lang="en-IN" dirty="0"/>
              <a:t> EMPNO ENAME           JOB        HIREDATE         MGR        SAL       COMM        DNO</a:t>
            </a:r>
          </a:p>
          <a:p>
            <a:r>
              <a:rPr lang="en-IN" dirty="0"/>
              <a:t>---------- --------------- ---------- --------- ---------- ---------- ---------- ----------</a:t>
            </a:r>
          </a:p>
          <a:p>
            <a:r>
              <a:rPr lang="en-IN" dirty="0"/>
              <a:t>       101 aa              clerk      22-APR-22         10      50000                     1</a:t>
            </a:r>
          </a:p>
          <a:p>
            <a:r>
              <a:rPr lang="en-IN" dirty="0"/>
              <a:t>       102 bb              clerk      20-APR-21         10      50000                     1</a:t>
            </a:r>
          </a:p>
          <a:p>
            <a:r>
              <a:rPr lang="en-IN" dirty="0"/>
              <a:t>       103 cc              salesman   10-MAY-20         10      40000                     1</a:t>
            </a:r>
          </a:p>
          <a:p>
            <a:r>
              <a:rPr lang="en-IN" dirty="0"/>
              <a:t>       104 dd              Manager    10-MAY-20          9      80000                     2</a:t>
            </a:r>
          </a:p>
          <a:p>
            <a:r>
              <a:rPr lang="en-IN" dirty="0"/>
              <a:t>        10 ee              Manager    10-MAY-20          9      80000                     2</a:t>
            </a:r>
          </a:p>
          <a:p>
            <a:r>
              <a:rPr lang="en-IN" dirty="0"/>
              <a:t>       105 ff              salesman   10-MAY-20         10      40000                     1</a:t>
            </a:r>
          </a:p>
          <a:p>
            <a:r>
              <a:rPr lang="en-IN" dirty="0"/>
              <a:t>         9 gg              president  10-MAY-20                 90000                     1</a:t>
            </a:r>
          </a:p>
          <a:p>
            <a:endParaRPr lang="en-IN" dirty="0"/>
          </a:p>
          <a:p>
            <a:r>
              <a:rPr lang="en-IN" dirty="0"/>
              <a:t>7 rows selected.</a:t>
            </a:r>
          </a:p>
        </p:txBody>
      </p:sp>
    </p:spTree>
    <p:extLst>
      <p:ext uri="{BB962C8B-B14F-4D97-AF65-F5344CB8AC3E}">
        <p14:creationId xmlns:p14="http://schemas.microsoft.com/office/powerpoint/2010/main" val="3522811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9BDD5-C08B-DB53-0856-88D59BBC18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FEF3F8-7598-A546-2FD2-15C86FCECDD3}"/>
              </a:ext>
            </a:extLst>
          </p:cNvPr>
          <p:cNvSpPr>
            <a:spLocks noGrp="1"/>
          </p:cNvSpPr>
          <p:nvPr>
            <p:ph idx="1"/>
          </p:nvPr>
        </p:nvSpPr>
        <p:spPr/>
        <p:txBody>
          <a:bodyPr/>
          <a:lstStyle/>
          <a:p>
            <a:pPr marL="0" indent="0">
              <a:buNone/>
            </a:pPr>
            <a:r>
              <a:rPr lang="en-US" dirty="0"/>
              <a:t>1. </a:t>
            </a:r>
            <a:r>
              <a:rPr lang="en-US" sz="1800" b="1" i="0" u="none" strike="noStrike" baseline="0" dirty="0">
                <a:solidFill>
                  <a:srgbClr val="000000"/>
                </a:solidFill>
                <a:latin typeface="Times New Roman" panose="02020603050405020304" pitchFamily="18" charset="0"/>
              </a:rPr>
              <a:t>Display all the details of all Managers </a:t>
            </a:r>
            <a:r>
              <a:rPr lang="en-US" sz="1800" b="0" i="0" u="none" strike="noStrike" baseline="0" dirty="0">
                <a:solidFill>
                  <a:srgbClr val="000000"/>
                </a:solidFill>
                <a:latin typeface="Times New Roman" panose="02020603050405020304" pitchFamily="18" charset="0"/>
              </a:rPr>
              <a:t>	</a:t>
            </a:r>
          </a:p>
          <a:p>
            <a:r>
              <a:rPr lang="en-US" dirty="0"/>
              <a:t>select * from emp where job='Manager’;</a:t>
            </a:r>
          </a:p>
          <a:p>
            <a:pPr marL="0" indent="0">
              <a:buNone/>
            </a:pPr>
            <a:r>
              <a:rPr lang="en-US" dirty="0"/>
              <a:t>2. </a:t>
            </a:r>
            <a:r>
              <a:rPr lang="en-US" sz="1800" b="1" i="0" u="none" strike="noStrike" baseline="0" dirty="0">
                <a:solidFill>
                  <a:srgbClr val="000000"/>
                </a:solidFill>
                <a:latin typeface="Times New Roman" panose="02020603050405020304" pitchFamily="18" charset="0"/>
              </a:rPr>
              <a:t>List the emps who joined before 2000. </a:t>
            </a:r>
            <a:r>
              <a:rPr lang="en-US" sz="1800" b="0" i="0" u="none" strike="noStrike" baseline="0" dirty="0">
                <a:solidFill>
                  <a:srgbClr val="000000"/>
                </a:solidFill>
                <a:latin typeface="Times New Roman" panose="02020603050405020304" pitchFamily="18" charset="0"/>
              </a:rPr>
              <a:t>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&lt; ’01-Jan-2021′ ;	</a:t>
            </a:r>
          </a:p>
          <a:p>
            <a:pPr marL="0" indent="0">
              <a:buNone/>
            </a:pPr>
            <a:r>
              <a:rPr lang="en-US" dirty="0"/>
              <a:t>3. List the </a:t>
            </a:r>
            <a:r>
              <a:rPr lang="en-US" dirty="0" err="1"/>
              <a:t>Empno</a:t>
            </a:r>
            <a:r>
              <a:rPr lang="en-US" dirty="0"/>
              <a:t>, </a:t>
            </a:r>
            <a:r>
              <a:rPr lang="en-US" dirty="0" err="1"/>
              <a:t>Ename</a:t>
            </a:r>
            <a:r>
              <a:rPr lang="en-US" dirty="0"/>
              <a:t>, Sal, Daily Sal of all Employees in the ASC order of </a:t>
            </a:r>
            <a:r>
              <a:rPr lang="en-US" dirty="0" err="1"/>
              <a:t>AnnSal</a:t>
            </a:r>
            <a:r>
              <a:rPr lang="en-US" dirty="0"/>
              <a:t>. </a:t>
            </a:r>
          </a:p>
          <a:p>
            <a:pPr marL="0" indent="0">
              <a:buNone/>
            </a:pPr>
            <a:r>
              <a:rPr lang="en-US" sz="1800" b="0" i="0" u="none" strike="noStrike" baseline="0" dirty="0">
                <a:solidFill>
                  <a:srgbClr val="000000"/>
                </a:solidFill>
              </a:rPr>
              <a:t>SELECT </a:t>
            </a:r>
            <a:r>
              <a:rPr lang="en-US" sz="1800" b="0" i="0" u="none" strike="noStrike" baseline="0" dirty="0" err="1">
                <a:solidFill>
                  <a:srgbClr val="000000"/>
                </a:solidFill>
              </a:rPr>
              <a:t>Empno</a:t>
            </a:r>
            <a:r>
              <a:rPr lang="en-US" sz="1800" b="0" i="0" u="none" strike="noStrike" baseline="0" dirty="0">
                <a:solidFill>
                  <a:srgbClr val="000000"/>
                </a:solidFill>
              </a:rPr>
              <a:t>, </a:t>
            </a:r>
            <a:r>
              <a:rPr lang="en-US" sz="1800" b="0" i="0" u="none" strike="noStrike" baseline="0" dirty="0" err="1">
                <a:solidFill>
                  <a:srgbClr val="000000"/>
                </a:solidFill>
              </a:rPr>
              <a:t>Ename</a:t>
            </a:r>
            <a:r>
              <a:rPr lang="en-US" sz="1800" b="0" i="0" u="none" strike="noStrike" baseline="0" dirty="0">
                <a:solidFill>
                  <a:srgbClr val="000000"/>
                </a:solidFill>
              </a:rPr>
              <a:t>, </a:t>
            </a:r>
            <a:r>
              <a:rPr lang="en-US" sz="1800" b="0" i="0" u="none" strike="noStrike" baseline="0" dirty="0" err="1">
                <a:solidFill>
                  <a:srgbClr val="000000"/>
                </a:solidFill>
              </a:rPr>
              <a:t>sal</a:t>
            </a:r>
            <a:r>
              <a:rPr lang="en-US" sz="1800" b="0" i="0" u="none" strike="noStrike" baseline="0" dirty="0">
                <a:solidFill>
                  <a:srgbClr val="000000"/>
                </a:solidFill>
              </a:rPr>
              <a:t> FROM Emp ORDER BY Sal*12</a:t>
            </a:r>
          </a:p>
          <a:p>
            <a:pPr marL="0" indent="0">
              <a:buNone/>
            </a:pPr>
            <a:r>
              <a:rPr lang="en-US" sz="1800" b="0" i="0" u="none" strike="noStrike" baseline="0" dirty="0">
                <a:solidFill>
                  <a:srgbClr val="000000"/>
                </a:solidFill>
              </a:rPr>
              <a:t>SELECT </a:t>
            </a:r>
            <a:r>
              <a:rPr lang="en-US" sz="1800" b="0" i="0" u="none" strike="noStrike" baseline="0" dirty="0" err="1">
                <a:solidFill>
                  <a:srgbClr val="000000"/>
                </a:solidFill>
              </a:rPr>
              <a:t>Empno</a:t>
            </a:r>
            <a:r>
              <a:rPr lang="en-US" sz="1800" b="0" i="0" u="none" strike="noStrike" baseline="0" dirty="0">
                <a:solidFill>
                  <a:srgbClr val="000000"/>
                </a:solidFill>
              </a:rPr>
              <a:t>, </a:t>
            </a:r>
            <a:r>
              <a:rPr lang="en-US" sz="1800" b="0" i="0" u="none" strike="noStrike" baseline="0" dirty="0" err="1">
                <a:solidFill>
                  <a:srgbClr val="000000"/>
                </a:solidFill>
              </a:rPr>
              <a:t>Ename</a:t>
            </a:r>
            <a:r>
              <a:rPr lang="en-US" sz="1800" b="0" i="0" u="none" strike="noStrike" baseline="0" dirty="0">
                <a:solidFill>
                  <a:srgbClr val="000000"/>
                </a:solidFill>
              </a:rPr>
              <a:t>, </a:t>
            </a:r>
            <a:r>
              <a:rPr lang="en-US" sz="1800" b="0" i="0" u="none" strike="noStrike" baseline="0" dirty="0" err="1">
                <a:solidFill>
                  <a:srgbClr val="000000"/>
                </a:solidFill>
              </a:rPr>
              <a:t>sal</a:t>
            </a:r>
            <a:r>
              <a:rPr lang="en-US" sz="1800" b="0" i="0" u="none" strike="noStrike" baseline="0" dirty="0">
                <a:solidFill>
                  <a:srgbClr val="000000"/>
                </a:solidFill>
              </a:rPr>
              <a:t>*12 FROM Emp ORDER BY Sal*12 ;</a:t>
            </a:r>
          </a:p>
          <a:p>
            <a:pPr marL="0" indent="0">
              <a:buNone/>
            </a:pPr>
            <a:r>
              <a:rPr lang="en-US" sz="1800" b="0" i="0" u="none" strike="noStrike" baseline="0" dirty="0">
                <a:solidFill>
                  <a:srgbClr val="000000"/>
                </a:solidFill>
              </a:rPr>
              <a:t>SELECT </a:t>
            </a:r>
            <a:r>
              <a:rPr lang="en-US" sz="1800" b="0" i="0" u="none" strike="noStrike" baseline="0" dirty="0" err="1">
                <a:solidFill>
                  <a:srgbClr val="000000"/>
                </a:solidFill>
              </a:rPr>
              <a:t>Empno</a:t>
            </a:r>
            <a:r>
              <a:rPr lang="en-US" sz="1800" b="0" i="0" u="none" strike="noStrike" baseline="0" dirty="0">
                <a:solidFill>
                  <a:srgbClr val="000000"/>
                </a:solidFill>
              </a:rPr>
              <a:t>, </a:t>
            </a:r>
            <a:r>
              <a:rPr lang="en-US" sz="1800" b="0" i="0" u="none" strike="noStrike" baseline="0" dirty="0" err="1">
                <a:solidFill>
                  <a:srgbClr val="000000"/>
                </a:solidFill>
              </a:rPr>
              <a:t>Ename</a:t>
            </a:r>
            <a:r>
              <a:rPr lang="en-US" sz="1800" b="0" i="0" u="none" strike="noStrike" baseline="0" dirty="0">
                <a:solidFill>
                  <a:srgbClr val="000000"/>
                </a:solidFill>
              </a:rPr>
              <a:t>, </a:t>
            </a:r>
            <a:r>
              <a:rPr lang="en-US" sz="1800" b="0" i="0" u="none" strike="noStrike" baseline="0" dirty="0" err="1">
                <a:solidFill>
                  <a:srgbClr val="000000"/>
                </a:solidFill>
              </a:rPr>
              <a:t>sal</a:t>
            </a:r>
            <a:r>
              <a:rPr lang="en-US" sz="1800" b="0" i="0" u="none" strike="noStrike" baseline="0" dirty="0">
                <a:solidFill>
                  <a:srgbClr val="000000"/>
                </a:solidFill>
              </a:rPr>
              <a:t>, Sal/30 </a:t>
            </a:r>
            <a:r>
              <a:rPr lang="en-US" sz="1800" b="0" i="0" u="none" strike="noStrike" baseline="0" dirty="0" err="1">
                <a:solidFill>
                  <a:srgbClr val="000000"/>
                </a:solidFill>
              </a:rPr>
              <a:t>DailySal</a:t>
            </a:r>
            <a:r>
              <a:rPr lang="en-US" sz="1800" b="0" i="0" u="none" strike="noStrike" baseline="0" dirty="0">
                <a:solidFill>
                  <a:srgbClr val="000000"/>
                </a:solidFill>
              </a:rPr>
              <a:t> FROM Emp ORDER BY Sal*12 ;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08515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932F2-A718-298B-4459-DFF4E092F8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E0DF19-DC1C-FB8B-C424-B3D13EC81FE0}"/>
              </a:ext>
            </a:extLst>
          </p:cNvPr>
          <p:cNvSpPr>
            <a:spLocks noGrp="1"/>
          </p:cNvSpPr>
          <p:nvPr>
            <p:ph idx="1"/>
          </p:nvPr>
        </p:nvSpPr>
        <p:spPr/>
        <p:txBody>
          <a:bodyPr/>
          <a:lstStyle/>
          <a:p>
            <a:pPr marL="0" indent="0">
              <a:buNone/>
            </a:pPr>
            <a:r>
              <a:rPr lang="en-US" dirty="0"/>
              <a:t>4. </a:t>
            </a:r>
            <a:r>
              <a:rPr lang="en-US" sz="1800" b="0" i="0" u="none" strike="noStrike" baseline="0" dirty="0">
                <a:solidFill>
                  <a:srgbClr val="000000"/>
                </a:solidFill>
                <a:latin typeface="Times New Roman" panose="02020603050405020304" pitchFamily="18" charset="0"/>
              </a:rPr>
              <a:t>Display the </a:t>
            </a:r>
            <a:r>
              <a:rPr lang="en-US" sz="1800" b="0" i="0" u="none" strike="noStrike" baseline="0" dirty="0" err="1">
                <a:solidFill>
                  <a:srgbClr val="000000"/>
                </a:solidFill>
                <a:latin typeface="Times New Roman" panose="02020603050405020304" pitchFamily="18" charset="0"/>
              </a:rPr>
              <a:t>empno</a:t>
            </a:r>
            <a:r>
              <a:rPr lang="en-US" sz="1800" b="0" i="0" u="none" strike="noStrike" baseline="0" dirty="0">
                <a:solidFill>
                  <a:srgbClr val="000000"/>
                </a:solidFill>
                <a:latin typeface="Times New Roman" panose="02020603050405020304" pitchFamily="18" charset="0"/>
              </a:rPr>
              <a:t> ,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job,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exp of all </a:t>
            </a:r>
            <a:r>
              <a:rPr lang="en-US" sz="1800" b="0" i="0" u="none" strike="noStrike" baseline="0" dirty="0" err="1">
                <a:solidFill>
                  <a:srgbClr val="000000"/>
                </a:solidFill>
                <a:latin typeface="Times New Roman" panose="02020603050405020304" pitchFamily="18" charset="0"/>
              </a:rPr>
              <a:t>Mgrs</a:t>
            </a:r>
            <a:r>
              <a:rPr lang="en-US" sz="1800" b="0" i="0" u="none" strike="noStrike" baseline="0" dirty="0">
                <a:solidFill>
                  <a:srgbClr val="000000"/>
                </a:solidFill>
                <a:latin typeface="Times New Roman" panose="02020603050405020304" pitchFamily="18" charset="0"/>
              </a:rPr>
              <a:t> 	</a:t>
            </a:r>
          </a:p>
          <a:p>
            <a:pPr marL="0" indent="0">
              <a:buNone/>
            </a:pPr>
            <a:r>
              <a:rPr lang="en-US" sz="1800" b="0" i="0" u="none" strike="noStrike" baseline="0" dirty="0">
                <a:solidFill>
                  <a:srgbClr val="000000"/>
                </a:solidFill>
                <a:latin typeface="Times New Roman" panose="02020603050405020304" pitchFamily="18" charset="0"/>
              </a:rPr>
              <a:t>select </a:t>
            </a:r>
            <a:r>
              <a:rPr lang="en-US" sz="1800" b="0" i="0" u="none" strike="noStrike" baseline="0" dirty="0" err="1">
                <a:solidFill>
                  <a:srgbClr val="000000"/>
                </a:solidFill>
                <a:latin typeface="Times New Roman" panose="02020603050405020304" pitchFamily="18" charset="0"/>
              </a:rPr>
              <a:t>empno</a:t>
            </a:r>
            <a:r>
              <a:rPr lang="en-US" sz="1800" b="0" i="0" u="none" strike="noStrike" baseline="0" dirty="0">
                <a:solidFill>
                  <a:srgbClr val="000000"/>
                </a:solidFill>
                <a:latin typeface="Times New Roman" panose="02020603050405020304" pitchFamily="18" charset="0"/>
              </a:rPr>
              <a:t>,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a:t>
            </a:r>
            <a:r>
              <a:rPr lang="en-US" sz="1800" b="0" i="0" u="none" strike="noStrike" baseline="0" dirty="0" err="1">
                <a:solidFill>
                  <a:srgbClr val="000000"/>
                </a:solidFill>
                <a:latin typeface="Times New Roman" panose="02020603050405020304" pitchFamily="18" charset="0"/>
              </a:rPr>
              <a:t>months_between</a:t>
            </a:r>
            <a:r>
              <a:rPr lang="en-US" sz="1800" b="0" i="0" u="none" strike="noStrike" baseline="0" dirty="0">
                <a:solidFill>
                  <a:srgbClr val="000000"/>
                </a:solidFill>
                <a:latin typeface="Times New Roman" panose="02020603050405020304" pitchFamily="18" charset="0"/>
              </a:rPr>
              <a:t>(</a:t>
            </a:r>
            <a:r>
              <a:rPr lang="en-US" sz="1800" b="0" i="0" u="none" strike="noStrike" baseline="0" dirty="0" err="1">
                <a:solidFill>
                  <a:srgbClr val="000000"/>
                </a:solidFill>
                <a:latin typeface="Times New Roman" panose="02020603050405020304" pitchFamily="18" charset="0"/>
              </a:rPr>
              <a:t>sysdate,hiredate</a:t>
            </a:r>
            <a:r>
              <a:rPr lang="en-US" sz="1800" b="0" i="0" u="none" strike="noStrike" baseline="0" dirty="0">
                <a:solidFill>
                  <a:srgbClr val="000000"/>
                </a:solidFill>
                <a:latin typeface="Times New Roman" panose="02020603050405020304" pitchFamily="18" charset="0"/>
              </a:rPr>
              <a:t>)/12 Exp from emp where job='Manager’;</a:t>
            </a:r>
            <a:endParaRPr lang="en-US" sz="1800" dirty="0">
              <a:solidFill>
                <a:srgbClr val="000000"/>
              </a:solidFill>
              <a:latin typeface="Times New Roman" panose="02020603050405020304" pitchFamily="18" charset="0"/>
            </a:endParaRPr>
          </a:p>
          <a:p>
            <a:pPr marL="0" indent="0">
              <a:buNone/>
            </a:pPr>
            <a:endParaRPr lang="en-US" sz="1800" b="0" i="0" u="none" strike="noStrike" baseline="0" dirty="0">
              <a:solidFill>
                <a:srgbClr val="000000"/>
              </a:solidFill>
              <a:latin typeface="Times New Roman" panose="02020603050405020304" pitchFamily="18" charset="0"/>
            </a:endParaRPr>
          </a:p>
          <a:p>
            <a:pPr marL="0" indent="0">
              <a:buNone/>
            </a:pPr>
            <a:r>
              <a:rPr lang="en-US" dirty="0"/>
              <a:t>5</a:t>
            </a:r>
            <a:r>
              <a:rPr lang="en-US" sz="1800" dirty="0">
                <a:solidFill>
                  <a:srgbClr val="000000"/>
                </a:solidFill>
                <a:latin typeface="Times New Roman" panose="02020603050405020304" pitchFamily="18" charset="0"/>
              </a:rPr>
              <a:t>.</a:t>
            </a:r>
            <a:r>
              <a:rPr lang="en-US" sz="1800" b="0" i="0" u="none" strike="noStrike" baseline="0" dirty="0">
                <a:solidFill>
                  <a:srgbClr val="000000"/>
                </a:solidFill>
              </a:rPr>
              <a:t> List the </a:t>
            </a:r>
            <a:r>
              <a:rPr lang="en-US" sz="1800" b="0" i="0" u="none" strike="noStrike" baseline="0" dirty="0" err="1">
                <a:solidFill>
                  <a:srgbClr val="000000"/>
                </a:solidFill>
              </a:rPr>
              <a:t>empno</a:t>
            </a:r>
            <a:r>
              <a:rPr lang="en-US" sz="1800" b="0" i="0" u="none" strike="noStrike" baseline="0" dirty="0">
                <a:solidFill>
                  <a:srgbClr val="000000"/>
                </a:solidFill>
              </a:rPr>
              <a:t>, </a:t>
            </a:r>
            <a:r>
              <a:rPr lang="en-US" sz="1800" b="0" i="0" u="none" strike="noStrike" baseline="0" dirty="0" err="1">
                <a:solidFill>
                  <a:srgbClr val="000000"/>
                </a:solidFill>
              </a:rPr>
              <a:t>ename</a:t>
            </a:r>
            <a:r>
              <a:rPr lang="en-US" sz="1800" b="0" i="0" u="none" strike="noStrike" baseline="0" dirty="0">
                <a:solidFill>
                  <a:srgbClr val="000000"/>
                </a:solidFill>
              </a:rPr>
              <a:t>, </a:t>
            </a:r>
            <a:r>
              <a:rPr lang="en-US" sz="1800" b="0" i="0" u="none" strike="noStrike" baseline="0" dirty="0" err="1">
                <a:solidFill>
                  <a:srgbClr val="000000"/>
                </a:solidFill>
              </a:rPr>
              <a:t>sal</a:t>
            </a:r>
            <a:r>
              <a:rPr lang="en-US" sz="1800" b="0" i="0" u="none" strike="noStrike" baseline="0" dirty="0">
                <a:solidFill>
                  <a:srgbClr val="000000"/>
                </a:solidFill>
              </a:rPr>
              <a:t>, exp of all emps working for </a:t>
            </a:r>
            <a:r>
              <a:rPr lang="en-US" sz="1800" b="0" i="0" u="none" strike="noStrike" baseline="0" dirty="0" err="1">
                <a:solidFill>
                  <a:srgbClr val="000000"/>
                </a:solidFill>
              </a:rPr>
              <a:t>Mgr</a:t>
            </a:r>
            <a:r>
              <a:rPr lang="en-US" sz="1800" b="0" i="0" u="none" strike="noStrike" baseline="0" dirty="0">
                <a:solidFill>
                  <a:srgbClr val="000000"/>
                </a:solidFill>
              </a:rPr>
              <a:t> 7839. </a:t>
            </a:r>
          </a:p>
          <a:p>
            <a:pPr marL="0" indent="0">
              <a:buNone/>
            </a:pPr>
            <a:r>
              <a:rPr lang="en-US" sz="1800" b="0" i="0" u="none" strike="noStrike" baseline="0" dirty="0">
                <a:solidFill>
                  <a:srgbClr val="000000"/>
                </a:solidFill>
              </a:rPr>
              <a:t>select </a:t>
            </a:r>
            <a:r>
              <a:rPr lang="en-US" sz="1800" b="0" i="0" u="none" strike="noStrike" baseline="0" dirty="0" err="1">
                <a:solidFill>
                  <a:srgbClr val="000000"/>
                </a:solidFill>
              </a:rPr>
              <a:t>empno</a:t>
            </a:r>
            <a:r>
              <a:rPr lang="en-US" sz="1800" b="0" i="0" u="none" strike="noStrike" baseline="0" dirty="0">
                <a:solidFill>
                  <a:srgbClr val="000000"/>
                </a:solidFill>
              </a:rPr>
              <a:t>, </a:t>
            </a:r>
            <a:r>
              <a:rPr lang="en-US" sz="1800" b="0" i="0" u="none" strike="noStrike" baseline="0" dirty="0" err="1">
                <a:solidFill>
                  <a:srgbClr val="000000"/>
                </a:solidFill>
              </a:rPr>
              <a:t>ename</a:t>
            </a:r>
            <a:r>
              <a:rPr lang="en-US" sz="1800" b="0" i="0" u="none" strike="noStrike" baseline="0" dirty="0">
                <a:solidFill>
                  <a:srgbClr val="000000"/>
                </a:solidFill>
              </a:rPr>
              <a:t>, </a:t>
            </a:r>
            <a:r>
              <a:rPr lang="en-US" sz="1800" b="0" i="0" u="none" strike="noStrike" baseline="0" dirty="0" err="1">
                <a:solidFill>
                  <a:srgbClr val="000000"/>
                </a:solidFill>
              </a:rPr>
              <a:t>sal</a:t>
            </a:r>
            <a:r>
              <a:rPr lang="en-US" sz="1800" b="0" i="0" u="none" strike="noStrike" baseline="0" dirty="0">
                <a:solidFill>
                  <a:srgbClr val="000000"/>
                </a:solidFill>
              </a:rPr>
              <a:t>, </a:t>
            </a:r>
            <a:r>
              <a:rPr lang="en-US" sz="1800" b="0" i="0" u="none" strike="noStrike" baseline="0" dirty="0" err="1">
                <a:solidFill>
                  <a:srgbClr val="000000"/>
                </a:solidFill>
              </a:rPr>
              <a:t>months_between</a:t>
            </a:r>
            <a:r>
              <a:rPr lang="en-US" sz="1800" b="0" i="0" u="none" strike="noStrike" baseline="0" dirty="0">
                <a:solidFill>
                  <a:srgbClr val="000000"/>
                </a:solidFill>
              </a:rPr>
              <a:t>(</a:t>
            </a:r>
            <a:r>
              <a:rPr lang="en-US" sz="1800" b="0" i="0" u="none" strike="noStrike" baseline="0" dirty="0" err="1">
                <a:solidFill>
                  <a:srgbClr val="000000"/>
                </a:solidFill>
              </a:rPr>
              <a:t>sysdate,hiredate</a:t>
            </a:r>
            <a:r>
              <a:rPr lang="en-US" sz="1800" b="0" i="0" u="none" strike="noStrike" baseline="0" dirty="0">
                <a:solidFill>
                  <a:srgbClr val="000000"/>
                </a:solidFill>
              </a:rPr>
              <a:t>)/12 Exp from emp B where </a:t>
            </a:r>
            <a:r>
              <a:rPr lang="en-US" sz="1800" b="0" i="0" u="none" strike="noStrike" baseline="0" dirty="0" err="1">
                <a:solidFill>
                  <a:srgbClr val="000000"/>
                </a:solidFill>
              </a:rPr>
              <a:t>Mgr</a:t>
            </a:r>
            <a:r>
              <a:rPr lang="en-US" sz="1800" b="0" i="0" u="none" strike="noStrike" baseline="0" dirty="0">
                <a:solidFill>
                  <a:srgbClr val="000000"/>
                </a:solidFill>
              </a:rPr>
              <a:t>=9;</a:t>
            </a:r>
            <a:endParaRPr lang="en-US" sz="1800" dirty="0">
              <a:solidFill>
                <a:srgbClr val="000000"/>
              </a:solidFill>
            </a:endParaRPr>
          </a:p>
          <a:p>
            <a:pPr marL="0" indent="0">
              <a:buNone/>
            </a:pPr>
            <a:endParaRPr lang="en-US" sz="1800" b="0" i="0" u="none" strike="noStrike" baseline="0" dirty="0">
              <a:solidFill>
                <a:srgbClr val="000000"/>
              </a:solidFill>
            </a:endParaRPr>
          </a:p>
          <a:p>
            <a:pPr marL="0" indent="0">
              <a:buNone/>
            </a:pPr>
            <a:r>
              <a:rPr lang="en-US" dirty="0"/>
              <a:t>6.</a:t>
            </a:r>
            <a:r>
              <a:rPr lang="en-US" sz="1800" b="0" i="0" u="none" strike="noStrike" baseline="0" dirty="0">
                <a:solidFill>
                  <a:srgbClr val="000000"/>
                </a:solidFill>
              </a:rPr>
              <a:t>Display the details of the emps whose Comm. Is more than their </a:t>
            </a:r>
            <a:r>
              <a:rPr lang="en-US" sz="1800" b="0" i="0" u="none" strike="noStrike" baseline="0" dirty="0" err="1">
                <a:solidFill>
                  <a:srgbClr val="000000"/>
                </a:solidFill>
              </a:rPr>
              <a:t>sal</a:t>
            </a:r>
            <a:r>
              <a:rPr lang="en-US" sz="1800" b="0" i="0" u="none" strike="noStrike" baseline="0" dirty="0">
                <a:solidFill>
                  <a:srgbClr val="000000"/>
                </a:solidFill>
              </a:rPr>
              <a:t>. 	</a:t>
            </a:r>
          </a:p>
          <a:p>
            <a:pPr marL="0" indent="0">
              <a:buNone/>
            </a:pPr>
            <a:r>
              <a:rPr lang="en-US" sz="1800" b="0" i="0" u="none" strike="noStrike" baseline="0" dirty="0">
                <a:solidFill>
                  <a:srgbClr val="000000"/>
                </a:solidFill>
                <a:latin typeface="Times New Roman" panose="02020603050405020304" pitchFamily="18" charset="0"/>
              </a:rPr>
              <a:t>select * from emp where comm &gt;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 	</a:t>
            </a:r>
          </a:p>
          <a:p>
            <a:pPr marL="0" indent="0">
              <a:buNone/>
            </a:pPr>
            <a:r>
              <a:rPr lang="en-US" dirty="0"/>
              <a:t>7. </a:t>
            </a:r>
            <a:r>
              <a:rPr lang="en-US" sz="1800" b="0" i="0" u="none" strike="noStrike" baseline="0" dirty="0">
                <a:solidFill>
                  <a:srgbClr val="000000"/>
                </a:solidFill>
              </a:rPr>
              <a:t>List the emps in the </a:t>
            </a:r>
            <a:r>
              <a:rPr lang="en-US" sz="1800" b="0" i="0" u="none" strike="noStrike" baseline="0" dirty="0" err="1">
                <a:solidFill>
                  <a:srgbClr val="000000"/>
                </a:solidFill>
              </a:rPr>
              <a:t>asc</a:t>
            </a:r>
            <a:r>
              <a:rPr lang="en-US" sz="1800" b="0" i="0" u="none" strike="noStrike" baseline="0" dirty="0">
                <a:solidFill>
                  <a:srgbClr val="000000"/>
                </a:solidFill>
              </a:rPr>
              <a:t> order of Designations 	</a:t>
            </a:r>
          </a:p>
          <a:p>
            <a:pPr marL="0" indent="0">
              <a:buNone/>
            </a:pPr>
            <a:r>
              <a:rPr lang="en-US" sz="1800" b="0" i="0" u="none" strike="noStrike" baseline="0" dirty="0">
                <a:solidFill>
                  <a:srgbClr val="000000"/>
                </a:solidFill>
                <a:latin typeface="Times New Roman" panose="02020603050405020304" pitchFamily="18" charset="0"/>
              </a:rPr>
              <a:t>select * from emp order by job ; 	</a:t>
            </a:r>
          </a:p>
          <a:p>
            <a:pPr marL="0" indent="0">
              <a:buNone/>
            </a:pPr>
            <a:endParaRPr lang="en-US" dirty="0"/>
          </a:p>
          <a:p>
            <a:pPr marL="0" indent="0">
              <a:buNone/>
            </a:pPr>
            <a:endParaRPr lang="en-US" sz="1800" b="0" i="0" u="none" strike="noStrike" baseline="0" dirty="0">
              <a:solidFill>
                <a:srgbClr val="000000"/>
              </a:solidFill>
              <a:latin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275688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B392F-3B1A-F665-3630-427DFB5A2E0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5253AE-9800-C20B-6A84-CEFFBF8DEC8F}"/>
              </a:ext>
            </a:extLst>
          </p:cNvPr>
          <p:cNvSpPr>
            <a:spLocks noGrp="1"/>
          </p:cNvSpPr>
          <p:nvPr>
            <p:ph idx="1"/>
          </p:nvPr>
        </p:nvSpPr>
        <p:spPr/>
        <p:txBody>
          <a:bodyPr/>
          <a:lstStyle/>
          <a:p>
            <a:pPr marL="0" indent="0">
              <a:buNone/>
            </a:pPr>
            <a:r>
              <a:rPr lang="en-US" dirty="0"/>
              <a:t>8.</a:t>
            </a:r>
            <a:r>
              <a:rPr lang="en-US" sz="1800" b="0" i="0" u="none" strike="noStrike" baseline="0" dirty="0">
                <a:solidFill>
                  <a:srgbClr val="000000"/>
                </a:solidFill>
                <a:latin typeface="Times New Roman" panose="02020603050405020304" pitchFamily="18" charset="0"/>
              </a:rPr>
              <a:t> </a:t>
            </a:r>
            <a:r>
              <a:rPr lang="en-US" sz="1800" b="1" i="0" u="none" strike="noStrike" baseline="0" dirty="0">
                <a:solidFill>
                  <a:srgbClr val="000000"/>
                </a:solidFill>
              </a:rPr>
              <a:t>List the emps along with their exp and daily </a:t>
            </a:r>
            <a:r>
              <a:rPr lang="en-US" sz="1800" b="1" i="0" u="none" strike="noStrike" baseline="0" dirty="0" err="1">
                <a:solidFill>
                  <a:srgbClr val="000000"/>
                </a:solidFill>
              </a:rPr>
              <a:t>sal</a:t>
            </a:r>
            <a:r>
              <a:rPr lang="en-US" sz="1800" b="1" i="0" u="none" strike="noStrike" baseline="0" dirty="0">
                <a:solidFill>
                  <a:srgbClr val="000000"/>
                </a:solidFill>
              </a:rPr>
              <a:t> is more than Rs.100 </a:t>
            </a:r>
            <a:r>
              <a:rPr lang="en-US" sz="1800" b="0" i="0" u="none" strike="noStrike" baseline="0" dirty="0">
                <a:solidFill>
                  <a:srgbClr val="000000"/>
                </a:solidFill>
              </a:rPr>
              <a:t>	</a:t>
            </a:r>
          </a:p>
          <a:p>
            <a:r>
              <a:rPr lang="en-US" sz="1800" b="0" i="0" u="none" strike="noStrike" baseline="0" dirty="0">
                <a:solidFill>
                  <a:srgbClr val="000000"/>
                </a:solidFill>
                <a:latin typeface="Times New Roman" panose="02020603050405020304" pitchFamily="18" charset="0"/>
              </a:rPr>
              <a:t>Select emp.*, </a:t>
            </a:r>
            <a:r>
              <a:rPr lang="en-US" sz="1800" b="0" i="0" u="none" strike="noStrike" baseline="0" dirty="0" err="1">
                <a:solidFill>
                  <a:srgbClr val="000000"/>
                </a:solidFill>
                <a:latin typeface="Times New Roman" panose="02020603050405020304" pitchFamily="18" charset="0"/>
              </a:rPr>
              <a:t>months_between</a:t>
            </a:r>
            <a:r>
              <a:rPr lang="en-US" sz="1800" b="0" i="0" u="none" strike="noStrike" baseline="0" dirty="0">
                <a:solidFill>
                  <a:srgbClr val="000000"/>
                </a:solidFill>
                <a:latin typeface="Times New Roman" panose="02020603050405020304" pitchFamily="18" charset="0"/>
              </a:rPr>
              <a:t>(</a:t>
            </a:r>
            <a:r>
              <a:rPr lang="en-US" sz="1800" b="0" i="0" u="none" strike="noStrike" baseline="0" dirty="0" err="1">
                <a:solidFill>
                  <a:srgbClr val="000000"/>
                </a:solidFill>
                <a:latin typeface="Times New Roman" panose="02020603050405020304" pitchFamily="18" charset="0"/>
              </a:rPr>
              <a:t>sysdate,hiredate</a:t>
            </a:r>
            <a:r>
              <a:rPr lang="en-US" sz="1800" b="0" i="0" u="none" strike="noStrike" baseline="0" dirty="0">
                <a:solidFill>
                  <a:srgbClr val="000000"/>
                </a:solidFill>
                <a:latin typeface="Times New Roman" panose="02020603050405020304" pitchFamily="18" charset="0"/>
              </a:rPr>
              <a:t>)/12 Exp from emp where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/30 &gt; 100 ; 	</a:t>
            </a:r>
          </a:p>
          <a:p>
            <a:pPr marL="0" indent="0">
              <a:buNone/>
            </a:pPr>
            <a:r>
              <a:rPr lang="en-IN" dirty="0"/>
              <a:t>9</a:t>
            </a:r>
            <a:r>
              <a:rPr lang="en-IN" b="1" dirty="0"/>
              <a:t>. </a:t>
            </a:r>
            <a:r>
              <a:rPr lang="en-US" sz="1800" b="1" i="0" u="none" strike="noStrike" baseline="0" dirty="0">
                <a:solidFill>
                  <a:srgbClr val="000000"/>
                </a:solidFill>
              </a:rPr>
              <a:t>List the emps who are either ‘CLERK’ or ‘ANALYST’ in the desc order 	</a:t>
            </a:r>
          </a:p>
          <a:p>
            <a:r>
              <a:rPr lang="en-US" sz="1800" b="0" i="0" u="none" strike="noStrike" baseline="0" dirty="0">
                <a:solidFill>
                  <a:srgbClr val="000000"/>
                </a:solidFill>
                <a:latin typeface="Times New Roman" panose="02020603050405020304" pitchFamily="18" charset="0"/>
              </a:rPr>
              <a:t>Select * from emp where job in (‘CLERK’,‘ANALYST’) order by job desc ; 	</a:t>
            </a:r>
          </a:p>
          <a:p>
            <a:r>
              <a:rPr lang="en-US" sz="1800" dirty="0">
                <a:solidFill>
                  <a:srgbClr val="000000"/>
                </a:solidFill>
                <a:latin typeface="Times New Roman" panose="02020603050405020304" pitchFamily="18" charset="0"/>
              </a:rPr>
              <a:t>Select * from emp where job='clerk' or job='salesman' order by job desc ;</a:t>
            </a:r>
          </a:p>
          <a:p>
            <a:endParaRPr lang="en-US" sz="1800" dirty="0">
              <a:solidFill>
                <a:srgbClr val="000000"/>
              </a:solidFill>
              <a:latin typeface="Times New Roman" panose="02020603050405020304" pitchFamily="18" charset="0"/>
            </a:endParaRPr>
          </a:p>
          <a:p>
            <a:pPr marL="0" indent="0">
              <a:buNone/>
            </a:pPr>
            <a:r>
              <a:rPr lang="en-US" dirty="0"/>
              <a:t>10</a:t>
            </a:r>
            <a:r>
              <a:rPr lang="en-US" sz="1800" dirty="0">
                <a:solidFill>
                  <a:srgbClr val="000000"/>
                </a:solidFill>
                <a:latin typeface="Times New Roman" panose="02020603050405020304" pitchFamily="18" charset="0"/>
              </a:rPr>
              <a:t>. </a:t>
            </a:r>
            <a:r>
              <a:rPr lang="en-US" sz="1800" b="1" i="0" u="none" strike="noStrike" baseline="0" dirty="0">
                <a:solidFill>
                  <a:srgbClr val="000000"/>
                </a:solidFill>
                <a:latin typeface="Times New Roman" panose="02020603050405020304" pitchFamily="18" charset="0"/>
              </a:rPr>
              <a:t>List the emps who joined on 1-May-81,31-Dec-81, 17-Dec-81, 19-Jan-80 in </a:t>
            </a:r>
            <a:r>
              <a:rPr lang="en-US" sz="1800" b="1" i="0" u="none" strike="noStrike" baseline="0" dirty="0" err="1">
                <a:solidFill>
                  <a:srgbClr val="000000"/>
                </a:solidFill>
                <a:latin typeface="Times New Roman" panose="02020603050405020304" pitchFamily="18" charset="0"/>
              </a:rPr>
              <a:t>asc</a:t>
            </a:r>
            <a:r>
              <a:rPr lang="en-US" sz="1800" b="1" i="0" u="none" strike="noStrike" baseline="0" dirty="0">
                <a:solidFill>
                  <a:srgbClr val="000000"/>
                </a:solidFill>
                <a:latin typeface="Times New Roman" panose="02020603050405020304" pitchFamily="18" charset="0"/>
              </a:rPr>
              <a:t> order of seniority. </a:t>
            </a:r>
            <a:r>
              <a:rPr lang="en-US" sz="1800" b="0" i="0" u="none" strike="noStrike" baseline="0" dirty="0">
                <a:solidFill>
                  <a:srgbClr val="000000"/>
                </a:solidFill>
                <a:latin typeface="Times New Roman" panose="02020603050405020304" pitchFamily="18" charset="0"/>
              </a:rPr>
              <a:t>	</a:t>
            </a:r>
          </a:p>
          <a:p>
            <a:r>
              <a:rPr lang="en-US" sz="1800" dirty="0">
                <a:solidFill>
                  <a:srgbClr val="000000"/>
                </a:solidFill>
                <a:latin typeface="Times New Roman" panose="02020603050405020304" pitchFamily="18" charset="0"/>
              </a:rPr>
              <a:t>Select </a:t>
            </a:r>
            <a:r>
              <a:rPr lang="en-US" sz="1800" dirty="0" err="1">
                <a:solidFill>
                  <a:srgbClr val="000000"/>
                </a:solidFill>
                <a:latin typeface="Times New Roman" panose="02020603050405020304" pitchFamily="18" charset="0"/>
              </a:rPr>
              <a:t>ename</a:t>
            </a:r>
            <a:r>
              <a:rPr lang="en-US" sz="1800" dirty="0">
                <a:solidFill>
                  <a:srgbClr val="000000"/>
                </a:solidFill>
                <a:latin typeface="Times New Roman" panose="02020603050405020304" pitchFamily="18" charset="0"/>
              </a:rPr>
              <a:t>,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 </a:t>
            </a:r>
            <a:r>
              <a:rPr lang="en-US" sz="1800" dirty="0" err="1">
                <a:solidFill>
                  <a:srgbClr val="000000"/>
                </a:solidFill>
                <a:latin typeface="Times New Roman" panose="02020603050405020304" pitchFamily="18" charset="0"/>
              </a:rPr>
              <a:t>months_between</a:t>
            </a:r>
            <a:r>
              <a:rPr lang="en-US" sz="1800" dirty="0">
                <a:solidFill>
                  <a:srgbClr val="000000"/>
                </a:solidFill>
                <a:latin typeface="Times New Roman" panose="02020603050405020304" pitchFamily="18" charset="0"/>
              </a:rPr>
              <a:t>(</a:t>
            </a:r>
            <a:r>
              <a:rPr lang="en-US" sz="1800" dirty="0" err="1">
                <a:solidFill>
                  <a:srgbClr val="000000"/>
                </a:solidFill>
                <a:latin typeface="Times New Roman" panose="02020603050405020304" pitchFamily="18" charset="0"/>
              </a:rPr>
              <a:t>sysdate</a:t>
            </a:r>
            <a:r>
              <a:rPr lang="en-US" sz="1800" dirty="0">
                <a:solidFill>
                  <a:srgbClr val="000000"/>
                </a:solidFill>
                <a:latin typeface="Times New Roman" panose="02020603050405020304" pitchFamily="18" charset="0"/>
              </a:rPr>
              <a:t>,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)/12 EXP from emp where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 like ’10-MAY-2020′ or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 like ’10-MAY-2020′or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 like ’22-APR-2022′ or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 like ’22-APR-2021’ order by </a:t>
            </a:r>
            <a:r>
              <a:rPr lang="en-US" sz="1800" dirty="0" err="1">
                <a:solidFill>
                  <a:srgbClr val="000000"/>
                </a:solidFill>
                <a:latin typeface="Times New Roman" panose="02020603050405020304" pitchFamily="18" charset="0"/>
              </a:rPr>
              <a:t>hiredate</a:t>
            </a:r>
            <a:r>
              <a:rPr lang="en-US" sz="1800" dirty="0">
                <a:solidFill>
                  <a:srgbClr val="000000"/>
                </a:solidFill>
                <a:latin typeface="Times New Roman" panose="02020603050405020304" pitchFamily="18" charset="0"/>
              </a:rPr>
              <a:t> desc ;</a:t>
            </a:r>
            <a:endParaRPr lang="en-IN" sz="18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572650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07027-7881-6C42-EE20-1AA8B70BCD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CB7F8F-7EC4-FE70-5501-7DFD61767A2D}"/>
              </a:ext>
            </a:extLst>
          </p:cNvPr>
          <p:cNvSpPr>
            <a:spLocks noGrp="1"/>
          </p:cNvSpPr>
          <p:nvPr>
            <p:ph idx="1"/>
          </p:nvPr>
        </p:nvSpPr>
        <p:spPr/>
        <p:txBody>
          <a:bodyPr>
            <a:normAutofit fontScale="62500" lnSpcReduction="20000"/>
          </a:bodyPr>
          <a:lstStyle/>
          <a:p>
            <a:pPr marL="0" indent="0">
              <a:buNone/>
            </a:pPr>
            <a:r>
              <a:rPr lang="en-US" sz="2600" b="1" dirty="0"/>
              <a:t>11</a:t>
            </a:r>
            <a:r>
              <a:rPr lang="en-US" sz="2600" b="1" i="0" u="none" strike="noStrike" baseline="0" dirty="0">
                <a:solidFill>
                  <a:srgbClr val="000000"/>
                </a:solidFill>
              </a:rPr>
              <a:t>. List the emps who are working for the </a:t>
            </a:r>
            <a:r>
              <a:rPr lang="en-US" sz="2600" b="1" i="0" u="none" strike="noStrike" baseline="0" dirty="0" err="1">
                <a:solidFill>
                  <a:srgbClr val="000000"/>
                </a:solidFill>
              </a:rPr>
              <a:t>deptno</a:t>
            </a:r>
            <a:r>
              <a:rPr lang="en-US" sz="2600" b="1" i="0" u="none" strike="noStrike" baseline="0" dirty="0">
                <a:solidFill>
                  <a:srgbClr val="000000"/>
                </a:solidFill>
              </a:rPr>
              <a:t> 10 or 20 	</a:t>
            </a:r>
          </a:p>
          <a:p>
            <a:pPr marL="0" indent="0">
              <a:buNone/>
            </a:pPr>
            <a:r>
              <a:rPr lang="en-US" sz="2600" b="0" i="0" u="none" strike="noStrike" baseline="0" dirty="0">
                <a:solidFill>
                  <a:srgbClr val="000000"/>
                </a:solidFill>
                <a:latin typeface="Times New Roman" panose="02020603050405020304" pitchFamily="18" charset="0"/>
              </a:rPr>
              <a:t>Select * from emp where </a:t>
            </a:r>
            <a:r>
              <a:rPr lang="en-US" sz="2600" b="0" i="0" u="none" strike="noStrike" baseline="0" dirty="0" err="1">
                <a:solidFill>
                  <a:srgbClr val="000000"/>
                </a:solidFill>
                <a:latin typeface="Times New Roman" panose="02020603050405020304" pitchFamily="18" charset="0"/>
              </a:rPr>
              <a:t>dno</a:t>
            </a:r>
            <a:r>
              <a:rPr lang="en-US" sz="2600" b="0" i="0" u="none" strike="noStrike" baseline="0" dirty="0">
                <a:solidFill>
                  <a:srgbClr val="000000"/>
                </a:solidFill>
                <a:latin typeface="Times New Roman" panose="02020603050405020304" pitchFamily="18" charset="0"/>
              </a:rPr>
              <a:t> in (1,2) ;</a:t>
            </a:r>
          </a:p>
          <a:p>
            <a:pPr marL="0" indent="0">
              <a:buNone/>
            </a:pPr>
            <a:r>
              <a:rPr lang="en-US" sz="2600" b="1" dirty="0"/>
              <a:t>12. </a:t>
            </a:r>
            <a:r>
              <a:rPr lang="en-US" sz="2600" b="1" i="0" u="none" strike="noStrike" baseline="0" dirty="0">
                <a:solidFill>
                  <a:srgbClr val="000000"/>
                </a:solidFill>
              </a:rPr>
              <a:t>List the emps who are joined in the year 2020 </a:t>
            </a:r>
          </a:p>
          <a:p>
            <a:pPr marL="0" indent="0">
              <a:buNone/>
            </a:pPr>
            <a:r>
              <a:rPr lang="en-US" sz="2600" b="0" i="0" u="none" strike="noStrike" baseline="0" dirty="0">
                <a:solidFill>
                  <a:srgbClr val="000000"/>
                </a:solidFill>
              </a:rPr>
              <a:t>Select * from emp where </a:t>
            </a:r>
            <a:r>
              <a:rPr lang="en-US" sz="2600" b="0" i="0" u="none" strike="noStrike" baseline="0" dirty="0" err="1">
                <a:solidFill>
                  <a:srgbClr val="000000"/>
                </a:solidFill>
              </a:rPr>
              <a:t>hiredate</a:t>
            </a:r>
            <a:r>
              <a:rPr lang="en-US" sz="2600" b="0" i="0" u="none" strike="noStrike" baseline="0" dirty="0">
                <a:solidFill>
                  <a:srgbClr val="000000"/>
                </a:solidFill>
              </a:rPr>
              <a:t> like '%20’ ;</a:t>
            </a:r>
            <a:endParaRPr lang="en-US" sz="2600" dirty="0">
              <a:solidFill>
                <a:srgbClr val="000000"/>
              </a:solidFill>
            </a:endParaRPr>
          </a:p>
          <a:p>
            <a:pPr marL="0" indent="0">
              <a:buNone/>
            </a:pPr>
            <a:r>
              <a:rPr lang="en-US" sz="2600" b="1" i="0" u="none" strike="noStrike" baseline="0" dirty="0">
                <a:solidFill>
                  <a:srgbClr val="000000"/>
                </a:solidFill>
              </a:rPr>
              <a:t>13. List the emps who are joined in the month of </a:t>
            </a:r>
            <a:r>
              <a:rPr lang="en-US" sz="2600" b="1" dirty="0">
                <a:solidFill>
                  <a:srgbClr val="000000"/>
                </a:solidFill>
              </a:rPr>
              <a:t>May 2020</a:t>
            </a:r>
            <a:r>
              <a:rPr lang="en-US" sz="2600" b="1" i="0" u="none" strike="noStrike" baseline="0" dirty="0">
                <a:solidFill>
                  <a:srgbClr val="000000"/>
                </a:solidFill>
              </a:rPr>
              <a:t> 	</a:t>
            </a:r>
          </a:p>
          <a:p>
            <a:pPr marL="0" indent="0">
              <a:buNone/>
            </a:pPr>
            <a:r>
              <a:rPr lang="en-US" sz="2600" b="0" i="0" u="none" strike="noStrike" baseline="0" dirty="0">
                <a:solidFill>
                  <a:srgbClr val="000000"/>
                </a:solidFill>
              </a:rPr>
              <a:t>Select * from emp where </a:t>
            </a:r>
            <a:r>
              <a:rPr lang="en-US" sz="2600" b="0" i="0" u="none" strike="noStrike" baseline="0" dirty="0" err="1">
                <a:solidFill>
                  <a:srgbClr val="000000"/>
                </a:solidFill>
              </a:rPr>
              <a:t>hiredate</a:t>
            </a:r>
            <a:r>
              <a:rPr lang="en-US" sz="2600" b="0" i="0" u="none" strike="noStrike" baseline="0" dirty="0">
                <a:solidFill>
                  <a:srgbClr val="000000"/>
                </a:solidFill>
              </a:rPr>
              <a:t> like '%MAY-20’ ;</a:t>
            </a:r>
          </a:p>
          <a:p>
            <a:pPr marL="0" indent="0">
              <a:buNone/>
            </a:pPr>
            <a:r>
              <a:rPr lang="en-US" sz="2600" b="1" dirty="0">
                <a:solidFill>
                  <a:srgbClr val="000000"/>
                </a:solidFill>
              </a:rPr>
              <a:t>14. </a:t>
            </a:r>
            <a:r>
              <a:rPr lang="en-US" sz="2600" b="1" i="0" u="none" strike="noStrike" baseline="0" dirty="0">
                <a:solidFill>
                  <a:srgbClr val="000000"/>
                </a:solidFill>
              </a:rPr>
              <a:t>List the emps whose annul </a:t>
            </a:r>
            <a:r>
              <a:rPr lang="en-US" sz="2600" b="1" i="0" u="none" strike="noStrike" baseline="0" dirty="0" err="1">
                <a:solidFill>
                  <a:srgbClr val="000000"/>
                </a:solidFill>
              </a:rPr>
              <a:t>sal</a:t>
            </a:r>
            <a:r>
              <a:rPr lang="en-US" sz="2600" b="1" i="0" u="none" strike="noStrike" baseline="0" dirty="0">
                <a:solidFill>
                  <a:srgbClr val="000000"/>
                </a:solidFill>
              </a:rPr>
              <a:t> ranging from 45000 and 60000</a:t>
            </a:r>
            <a:r>
              <a:rPr lang="en-US" sz="2600" b="0" i="0" u="none" strike="noStrike" baseline="0" dirty="0">
                <a:solidFill>
                  <a:srgbClr val="000000"/>
                </a:solidFill>
              </a:rPr>
              <a:t>	</a:t>
            </a:r>
          </a:p>
          <a:p>
            <a:pPr marL="0" indent="0">
              <a:buNone/>
            </a:pPr>
            <a:r>
              <a:rPr lang="en-US" sz="2600" dirty="0">
                <a:solidFill>
                  <a:srgbClr val="000000"/>
                </a:solidFill>
              </a:rPr>
              <a:t>Select * from emp where </a:t>
            </a:r>
            <a:r>
              <a:rPr lang="en-US" sz="2600" dirty="0" err="1">
                <a:solidFill>
                  <a:srgbClr val="000000"/>
                </a:solidFill>
              </a:rPr>
              <a:t>sal</a:t>
            </a:r>
            <a:r>
              <a:rPr lang="en-US" sz="2600" dirty="0">
                <a:solidFill>
                  <a:srgbClr val="000000"/>
                </a:solidFill>
              </a:rPr>
              <a:t>*12 between 45000 and 60000 ;</a:t>
            </a:r>
          </a:p>
          <a:p>
            <a:pPr marL="0" indent="0">
              <a:buNone/>
            </a:pPr>
            <a:r>
              <a:rPr lang="en-US" sz="2600" b="1" i="0" u="none" strike="noStrike" baseline="0" dirty="0">
                <a:solidFill>
                  <a:srgbClr val="000000"/>
                </a:solidFill>
              </a:rPr>
              <a:t>15. List the </a:t>
            </a:r>
            <a:r>
              <a:rPr lang="en-US" sz="2600" b="1" i="0" u="none" strike="noStrike" baseline="0" dirty="0" err="1">
                <a:solidFill>
                  <a:srgbClr val="000000"/>
                </a:solidFill>
              </a:rPr>
              <a:t>enames</a:t>
            </a:r>
            <a:r>
              <a:rPr lang="en-US" sz="2600" b="1" i="0" u="none" strike="noStrike" baseline="0" dirty="0">
                <a:solidFill>
                  <a:srgbClr val="000000"/>
                </a:solidFill>
              </a:rPr>
              <a:t> those are starting with ‘s’ and with fire characters </a:t>
            </a:r>
            <a:r>
              <a:rPr lang="en-US" sz="2600" b="0" i="0" u="none" strike="noStrike" baseline="0" dirty="0">
                <a:solidFill>
                  <a:srgbClr val="000000"/>
                </a:solidFill>
              </a:rPr>
              <a:t>	</a:t>
            </a:r>
          </a:p>
          <a:p>
            <a:pPr marL="0" indent="0">
              <a:buNone/>
            </a:pPr>
            <a:r>
              <a:rPr lang="en-US" sz="2600" b="0" i="0" u="none" strike="noStrike" baseline="0" dirty="0">
                <a:solidFill>
                  <a:srgbClr val="000000"/>
                </a:solidFill>
                <a:latin typeface="Times New Roman" panose="02020603050405020304" pitchFamily="18" charset="0"/>
              </a:rPr>
              <a:t>Select * from emp where </a:t>
            </a:r>
            <a:r>
              <a:rPr lang="en-US" sz="2600" b="0" i="0" u="none" strike="noStrike" baseline="0" dirty="0" err="1">
                <a:solidFill>
                  <a:srgbClr val="000000"/>
                </a:solidFill>
                <a:latin typeface="Times New Roman" panose="02020603050405020304" pitchFamily="18" charset="0"/>
              </a:rPr>
              <a:t>ename</a:t>
            </a:r>
            <a:r>
              <a:rPr lang="en-US" sz="2600" b="0" i="0" u="none" strike="noStrike" baseline="0" dirty="0">
                <a:solidFill>
                  <a:srgbClr val="000000"/>
                </a:solidFill>
                <a:latin typeface="Times New Roman" panose="02020603050405020304" pitchFamily="18" charset="0"/>
              </a:rPr>
              <a:t> like ‘S____’ ; 	</a:t>
            </a:r>
          </a:p>
          <a:p>
            <a:pPr marL="0" indent="0">
              <a:buNone/>
            </a:pPr>
            <a:r>
              <a:rPr lang="en-US" sz="2600" b="0" i="0" u="none" strike="noStrike" baseline="0" dirty="0">
                <a:solidFill>
                  <a:srgbClr val="000000"/>
                </a:solidFill>
                <a:latin typeface="Times New Roman" panose="02020603050405020304" pitchFamily="18" charset="0"/>
              </a:rPr>
              <a:t>16. </a:t>
            </a:r>
            <a:r>
              <a:rPr lang="en-US" sz="2600" b="1" i="0" u="none" strike="noStrike" baseline="0" dirty="0">
                <a:solidFill>
                  <a:srgbClr val="000000"/>
                </a:solidFill>
                <a:latin typeface="Times New Roman" panose="02020603050405020304" pitchFamily="18" charset="0"/>
              </a:rPr>
              <a:t>List the emps those are having four chars and third char must be ‘r’ </a:t>
            </a:r>
            <a:endParaRPr lang="en-US" sz="2600" b="0" i="0" u="none" strike="noStrike" baseline="0" dirty="0">
              <a:solidFill>
                <a:srgbClr val="000000"/>
              </a:solidFill>
              <a:latin typeface="Times New Roman" panose="02020603050405020304" pitchFamily="18" charset="0"/>
            </a:endParaRPr>
          </a:p>
          <a:p>
            <a:pPr marL="0" indent="0">
              <a:buNone/>
            </a:pPr>
            <a:r>
              <a:rPr lang="en-US" sz="2600" b="0" i="0" u="none" strike="noStrike" baseline="0" dirty="0">
                <a:solidFill>
                  <a:srgbClr val="000000"/>
                </a:solidFill>
                <a:latin typeface="Times New Roman" panose="02020603050405020304" pitchFamily="18" charset="0"/>
              </a:rPr>
              <a:t>Select * from emp where </a:t>
            </a:r>
            <a:r>
              <a:rPr lang="en-US" sz="2600" b="0" i="0" u="none" strike="noStrike" baseline="0" dirty="0" err="1">
                <a:solidFill>
                  <a:srgbClr val="000000"/>
                </a:solidFill>
                <a:latin typeface="Times New Roman" panose="02020603050405020304" pitchFamily="18" charset="0"/>
              </a:rPr>
              <a:t>ename</a:t>
            </a:r>
            <a:r>
              <a:rPr lang="en-US" sz="2600" b="0" i="0" u="none" strike="noStrike" baseline="0" dirty="0">
                <a:solidFill>
                  <a:srgbClr val="000000"/>
                </a:solidFill>
                <a:latin typeface="Times New Roman" panose="02020603050405020304" pitchFamily="18" charset="0"/>
              </a:rPr>
              <a:t> like ‘__R_’ ; 	</a:t>
            </a:r>
          </a:p>
          <a:p>
            <a:pPr marL="0" indent="0">
              <a:buNone/>
            </a:pPr>
            <a:endParaRPr lang="en-US" sz="2300" b="0" i="0" u="none" strike="noStrike" baseline="0" dirty="0">
              <a:solidFill>
                <a:srgbClr val="000000"/>
              </a:solidFill>
            </a:endParaRPr>
          </a:p>
          <a:p>
            <a:pPr marL="0" indent="0">
              <a:buNone/>
            </a:pPr>
            <a:endParaRPr lang="en-US" sz="1800" dirty="0">
              <a:solidFill>
                <a:srgbClr val="000000"/>
              </a:solidFill>
            </a:endParaRPr>
          </a:p>
          <a:p>
            <a:pPr marL="0" indent="0">
              <a:buNone/>
            </a:pPr>
            <a:r>
              <a:rPr lang="en-US" sz="1800" b="0" i="0" u="none" strike="noStrike" baseline="0" dirty="0">
                <a:solidFill>
                  <a:srgbClr val="000000"/>
                </a:solidFill>
              </a:rPr>
              <a:t>	</a:t>
            </a:r>
          </a:p>
          <a:p>
            <a:endParaRPr lang="en-IN" dirty="0"/>
          </a:p>
        </p:txBody>
      </p:sp>
    </p:spTree>
    <p:extLst>
      <p:ext uri="{BB962C8B-B14F-4D97-AF65-F5344CB8AC3E}">
        <p14:creationId xmlns:p14="http://schemas.microsoft.com/office/powerpoint/2010/main" val="1428280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1DB0-A63E-161A-8B89-4FF9F18384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4540B8-9228-34E8-BFDE-EDE26B3B8CDA}"/>
              </a:ext>
            </a:extLst>
          </p:cNvPr>
          <p:cNvSpPr>
            <a:spLocks noGrp="1"/>
          </p:cNvSpPr>
          <p:nvPr>
            <p:ph idx="1"/>
          </p:nvPr>
        </p:nvSpPr>
        <p:spPr/>
        <p:txBody>
          <a:bodyPr/>
          <a:lstStyle/>
          <a:p>
            <a:pPr marL="0" indent="0">
              <a:buNone/>
            </a:pPr>
            <a:r>
              <a:rPr lang="en-US" sz="1800" b="1" i="0" u="none" strike="noStrike" baseline="0" dirty="0">
                <a:solidFill>
                  <a:srgbClr val="000000"/>
                </a:solidFill>
                <a:latin typeface="Times New Roman" panose="02020603050405020304" pitchFamily="18" charset="0"/>
              </a:rPr>
              <a:t>17. List the 5 character names starting with ‘s’ and ending with ‘h’ </a:t>
            </a:r>
            <a:r>
              <a:rPr lang="en-US" sz="1800" b="0" i="0" u="none" strike="noStrike" baseline="0" dirty="0">
                <a:solidFill>
                  <a:srgbClr val="000000"/>
                </a:solidFill>
                <a:latin typeface="Times New Roman" panose="02020603050405020304" pitchFamily="18" charset="0"/>
              </a:rPr>
              <a:t>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like ‘S___H’ ;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like ‘S___H’ ; </a:t>
            </a:r>
          </a:p>
          <a:p>
            <a:pPr marL="0" indent="0">
              <a:buNone/>
            </a:pPr>
            <a:r>
              <a:rPr lang="en-US" sz="1800" b="1" i="0" u="none" strike="noStrike" baseline="0" dirty="0">
                <a:solidFill>
                  <a:srgbClr val="000000"/>
                </a:solidFill>
                <a:latin typeface="Times New Roman" panose="02020603050405020304" pitchFamily="18" charset="0"/>
              </a:rPr>
              <a:t>18. List the emps who joined in January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like ‘%JAN%’ ; </a:t>
            </a:r>
          </a:p>
          <a:p>
            <a:pPr marL="0" indent="0">
              <a:buNone/>
            </a:pPr>
            <a:r>
              <a:rPr lang="en-US" sz="1800" b="1" i="0" u="none" strike="noStrike" baseline="0" dirty="0">
                <a:solidFill>
                  <a:srgbClr val="000000"/>
                </a:solidFill>
                <a:latin typeface="Times New Roman" panose="02020603050405020304" pitchFamily="18" charset="0"/>
              </a:rPr>
              <a:t>19. List the emps who joined in the month of which second character is ‘a’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like ‘__-_A%’ ; </a:t>
            </a:r>
          </a:p>
          <a:p>
            <a:pPr marL="0" indent="0">
              <a:buNone/>
            </a:pPr>
            <a:r>
              <a:rPr lang="en-IN" sz="1800" b="1" i="0" u="none" strike="noStrike" baseline="0" dirty="0">
                <a:solidFill>
                  <a:srgbClr val="000000"/>
                </a:solidFill>
                <a:latin typeface="Times New Roman" panose="02020603050405020304" pitchFamily="18" charset="0"/>
              </a:rPr>
              <a:t>20. </a:t>
            </a:r>
            <a:r>
              <a:rPr lang="en-US" sz="1800" b="1" i="0" u="none" strike="noStrike" baseline="0" dirty="0">
                <a:solidFill>
                  <a:srgbClr val="000000"/>
                </a:solidFill>
              </a:rPr>
              <a:t>List the emps whose </a:t>
            </a:r>
            <a:r>
              <a:rPr lang="en-US" sz="1800" b="1" i="0" u="none" strike="noStrike" baseline="0" dirty="0" err="1">
                <a:solidFill>
                  <a:srgbClr val="000000"/>
                </a:solidFill>
              </a:rPr>
              <a:t>sal</a:t>
            </a:r>
            <a:r>
              <a:rPr lang="en-US" sz="1800" b="1" i="0" u="none" strike="noStrike" baseline="0" dirty="0">
                <a:solidFill>
                  <a:srgbClr val="000000"/>
                </a:solidFill>
              </a:rPr>
              <a:t> is 4 digit number ending with zero </a:t>
            </a:r>
            <a:r>
              <a:rPr lang="en-US" sz="1800" b="0" i="0" u="none" strike="noStrike" baseline="0" dirty="0">
                <a:solidFill>
                  <a:srgbClr val="000000"/>
                </a:solidFill>
              </a:rPr>
              <a:t>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like ‘___0’ ; 	</a:t>
            </a:r>
          </a:p>
          <a:p>
            <a:pPr marL="0" indent="0">
              <a:buNone/>
            </a:pPr>
            <a:r>
              <a:rPr lang="en-US" sz="1800" b="1" i="0" u="none" strike="noStrike" baseline="0" dirty="0">
                <a:solidFill>
                  <a:srgbClr val="000000"/>
                </a:solidFill>
                <a:latin typeface="Times New Roman" panose="02020603050405020304" pitchFamily="18" charset="0"/>
              </a:rPr>
              <a:t>21. List the emps whose names having a character set ‘ll’ together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like ‘%LL%’ ; 	</a:t>
            </a:r>
          </a:p>
          <a:p>
            <a:endParaRPr lang="en-IN" sz="1800" b="0" i="0" u="none" strike="noStrike" baseline="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12107110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F77EA-A0CC-D9A6-5C94-1098E0490B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ED75BA-D4A1-737D-C9F5-AAFC3337880A}"/>
              </a:ext>
            </a:extLst>
          </p:cNvPr>
          <p:cNvSpPr>
            <a:spLocks noGrp="1"/>
          </p:cNvSpPr>
          <p:nvPr>
            <p:ph idx="1"/>
          </p:nvPr>
        </p:nvSpPr>
        <p:spPr/>
        <p:txBody>
          <a:bodyPr/>
          <a:lstStyle/>
          <a:p>
            <a:pPr marL="0" indent="0">
              <a:buNone/>
            </a:pPr>
            <a:r>
              <a:rPr lang="en-US" sz="1800" b="1" i="0" u="none" strike="noStrike" baseline="0" dirty="0">
                <a:solidFill>
                  <a:srgbClr val="000000"/>
                </a:solidFill>
                <a:latin typeface="Times New Roman" panose="02020603050405020304" pitchFamily="18" charset="0"/>
              </a:rPr>
              <a:t>22. List the emps who does not belong to </a:t>
            </a:r>
            <a:r>
              <a:rPr lang="en-US" sz="1800" b="1" i="0" u="none" strike="noStrike" baseline="0" dirty="0" err="1">
                <a:solidFill>
                  <a:srgbClr val="000000"/>
                </a:solidFill>
                <a:latin typeface="Times New Roman" panose="02020603050405020304" pitchFamily="18" charset="0"/>
              </a:rPr>
              <a:t>deptno</a:t>
            </a:r>
            <a:r>
              <a:rPr lang="en-US" sz="1800" b="1" i="0" u="none" strike="noStrike" baseline="0" dirty="0">
                <a:solidFill>
                  <a:srgbClr val="000000"/>
                </a:solidFill>
                <a:latin typeface="Times New Roman" panose="02020603050405020304" pitchFamily="18" charset="0"/>
              </a:rPr>
              <a:t> 20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deptno</a:t>
            </a:r>
            <a:r>
              <a:rPr lang="en-US" sz="1800" b="0" i="0" u="none" strike="noStrike" baseline="0" dirty="0">
                <a:solidFill>
                  <a:srgbClr val="000000"/>
                </a:solidFill>
                <a:latin typeface="Times New Roman" panose="02020603050405020304" pitchFamily="18" charset="0"/>
              </a:rPr>
              <a:t> &lt;&gt; 20 ; </a:t>
            </a:r>
          </a:p>
          <a:p>
            <a:pPr marL="0" indent="0">
              <a:buNone/>
            </a:pPr>
            <a:r>
              <a:rPr lang="en-US" sz="1800" b="1" i="0" u="none" strike="noStrike" baseline="0" dirty="0">
                <a:solidFill>
                  <a:srgbClr val="000000"/>
                </a:solidFill>
                <a:latin typeface="Times New Roman" panose="02020603050405020304" pitchFamily="18" charset="0"/>
              </a:rPr>
              <a:t>23. List all the emps except ‘president’ &amp; ‘</a:t>
            </a:r>
            <a:r>
              <a:rPr lang="en-US" sz="1800" b="1" i="0" u="none" strike="noStrike" baseline="0" dirty="0" err="1">
                <a:solidFill>
                  <a:srgbClr val="000000"/>
                </a:solidFill>
                <a:latin typeface="Times New Roman" panose="02020603050405020304" pitchFamily="18" charset="0"/>
              </a:rPr>
              <a:t>Mgr</a:t>
            </a:r>
            <a:r>
              <a:rPr lang="en-US" sz="1800" b="1" i="0" u="none" strike="noStrike" baseline="0" dirty="0">
                <a:solidFill>
                  <a:srgbClr val="000000"/>
                </a:solidFill>
                <a:latin typeface="Times New Roman" panose="02020603050405020304" pitchFamily="18" charset="0"/>
              </a:rPr>
              <a:t>’ in </a:t>
            </a:r>
            <a:r>
              <a:rPr lang="en-US" sz="1800" b="1" i="0" u="none" strike="noStrike" baseline="0" dirty="0" err="1">
                <a:solidFill>
                  <a:srgbClr val="000000"/>
                </a:solidFill>
                <a:latin typeface="Times New Roman" panose="02020603050405020304" pitchFamily="18" charset="0"/>
              </a:rPr>
              <a:t>asc</a:t>
            </a:r>
            <a:r>
              <a:rPr lang="en-US" sz="1800" b="1" i="0" u="none" strike="noStrike" baseline="0" dirty="0">
                <a:solidFill>
                  <a:srgbClr val="000000"/>
                </a:solidFill>
                <a:latin typeface="Times New Roman" panose="02020603050405020304" pitchFamily="18" charset="0"/>
              </a:rPr>
              <a:t> order of salaries </a:t>
            </a:r>
          </a:p>
          <a:p>
            <a:r>
              <a:rPr lang="en-US" sz="1800" b="0" i="0" u="none" strike="noStrike" baseline="0" dirty="0">
                <a:solidFill>
                  <a:srgbClr val="000000"/>
                </a:solidFill>
                <a:latin typeface="Times New Roman" panose="02020603050405020304" pitchFamily="18" charset="0"/>
              </a:rPr>
              <a:t>Select * from emp where job not in (‘PRESIDENT’,’MANAGER’) </a:t>
            </a:r>
          </a:p>
          <a:p>
            <a:r>
              <a:rPr lang="en-US" sz="1800" b="0" i="0" u="none" strike="noStrike" baseline="0" dirty="0">
                <a:solidFill>
                  <a:srgbClr val="000000"/>
                </a:solidFill>
                <a:latin typeface="Times New Roman" panose="02020603050405020304" pitchFamily="18" charset="0"/>
              </a:rPr>
              <a:t>Select * from emp where job != 'president' order by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a:t>
            </a:r>
          </a:p>
          <a:p>
            <a:pPr marL="0" indent="0">
              <a:buNone/>
            </a:pPr>
            <a:endParaRPr lang="en-IN" sz="1800" b="0" i="0" u="none" strike="noStrike" baseline="0" dirty="0">
              <a:solidFill>
                <a:srgbClr val="000000"/>
              </a:solidFill>
              <a:latin typeface="Times New Roman" panose="02020603050405020304" pitchFamily="18" charset="0"/>
            </a:endParaRPr>
          </a:p>
          <a:p>
            <a:pPr marL="0" indent="0">
              <a:buNone/>
            </a:pPr>
            <a:r>
              <a:rPr lang="en-US" sz="1800" b="1" i="0" u="none" strike="noStrike" baseline="0" dirty="0">
                <a:solidFill>
                  <a:srgbClr val="000000"/>
                </a:solidFill>
                <a:latin typeface="Times New Roman" panose="02020603050405020304" pitchFamily="18" charset="0"/>
              </a:rPr>
              <a:t>24. List the emps who joined in before or after </a:t>
            </a:r>
            <a:r>
              <a:rPr lang="en-US" sz="1800" b="1" dirty="0">
                <a:solidFill>
                  <a:srgbClr val="000000"/>
                </a:solidFill>
                <a:latin typeface="Times New Roman" panose="02020603050405020304" pitchFamily="18" charset="0"/>
              </a:rPr>
              <a:t>2020</a:t>
            </a:r>
            <a:endParaRPr lang="en-US" sz="1800" b="1"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not like '%20’ ;</a:t>
            </a:r>
          </a:p>
          <a:p>
            <a:pPr marL="0" indent="0">
              <a:buNone/>
            </a:pPr>
            <a:r>
              <a:rPr lang="en-US" sz="1800" b="1" i="0" u="none" strike="noStrike" baseline="0" dirty="0">
                <a:solidFill>
                  <a:srgbClr val="000000"/>
                </a:solidFill>
                <a:latin typeface="Times New Roman" panose="02020603050405020304" pitchFamily="18" charset="0"/>
              </a:rPr>
              <a:t>25. List the emps whose </a:t>
            </a:r>
            <a:r>
              <a:rPr lang="en-US" sz="1800" b="1" i="0" u="none" strike="noStrike" baseline="0" dirty="0" err="1">
                <a:solidFill>
                  <a:srgbClr val="000000"/>
                </a:solidFill>
                <a:latin typeface="Times New Roman" panose="02020603050405020304" pitchFamily="18" charset="0"/>
              </a:rPr>
              <a:t>empno</a:t>
            </a:r>
            <a:r>
              <a:rPr lang="en-US" sz="1800" b="1" i="0" u="none" strike="noStrike" baseline="0" dirty="0">
                <a:solidFill>
                  <a:srgbClr val="000000"/>
                </a:solidFill>
                <a:latin typeface="Times New Roman" panose="02020603050405020304" pitchFamily="18" charset="0"/>
              </a:rPr>
              <a:t> not starting with digit 78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empno</a:t>
            </a:r>
            <a:r>
              <a:rPr lang="en-US" sz="1800" b="0" i="0" u="none" strike="noStrike" baseline="0" dirty="0">
                <a:solidFill>
                  <a:srgbClr val="000000"/>
                </a:solidFill>
                <a:latin typeface="Times New Roman" panose="02020603050405020304" pitchFamily="18" charset="0"/>
              </a:rPr>
              <a:t> not like ‘78%’ ; 	</a:t>
            </a:r>
          </a:p>
          <a:p>
            <a:endParaRPr lang="en-IN" dirty="0"/>
          </a:p>
        </p:txBody>
      </p:sp>
    </p:spTree>
    <p:extLst>
      <p:ext uri="{BB962C8B-B14F-4D97-AF65-F5344CB8AC3E}">
        <p14:creationId xmlns:p14="http://schemas.microsoft.com/office/powerpoint/2010/main" val="36969705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D858-9DE5-B352-EE33-2270D8969F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5DF820-4D41-A867-69E0-E9F3DCF6FB5D}"/>
              </a:ext>
            </a:extLst>
          </p:cNvPr>
          <p:cNvSpPr>
            <a:spLocks noGrp="1"/>
          </p:cNvSpPr>
          <p:nvPr>
            <p:ph idx="1"/>
          </p:nvPr>
        </p:nvSpPr>
        <p:spPr/>
        <p:txBody>
          <a:bodyPr/>
          <a:lstStyle/>
          <a:p>
            <a:pPr marL="0" indent="0">
              <a:buNone/>
            </a:pPr>
            <a:r>
              <a:rPr lang="en-US" sz="1800" b="1" i="0" u="none" strike="noStrike" baseline="0" dirty="0">
                <a:solidFill>
                  <a:srgbClr val="000000"/>
                </a:solidFill>
                <a:latin typeface="Times New Roman" panose="02020603050405020304" pitchFamily="18" charset="0"/>
              </a:rPr>
              <a:t>26. List the emps who are working under ‘</a:t>
            </a:r>
            <a:r>
              <a:rPr lang="en-US" sz="1800" b="1" i="0" u="none" strike="noStrike" baseline="0" dirty="0" err="1">
                <a:solidFill>
                  <a:srgbClr val="000000"/>
                </a:solidFill>
                <a:latin typeface="Times New Roman" panose="02020603050405020304" pitchFamily="18" charset="0"/>
              </a:rPr>
              <a:t>Mgr</a:t>
            </a:r>
            <a:r>
              <a:rPr lang="en-US" sz="1800" b="1" i="0" u="none" strike="noStrike" baseline="0" dirty="0">
                <a:solidFill>
                  <a:srgbClr val="000000"/>
                </a:solidFill>
                <a:latin typeface="Times New Roman" panose="02020603050405020304" pitchFamily="18" charset="0"/>
              </a:rPr>
              <a:t>’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mgr</a:t>
            </a:r>
            <a:r>
              <a:rPr lang="en-US" sz="1800" b="0" i="0" u="none" strike="noStrike" baseline="0" dirty="0">
                <a:solidFill>
                  <a:srgbClr val="000000"/>
                </a:solidFill>
                <a:latin typeface="Times New Roman" panose="02020603050405020304" pitchFamily="18" charset="0"/>
              </a:rPr>
              <a:t> in (select </a:t>
            </a:r>
            <a:r>
              <a:rPr lang="en-US" sz="1800" b="0" i="0" u="none" strike="noStrike" baseline="0" dirty="0" err="1">
                <a:solidFill>
                  <a:srgbClr val="000000"/>
                </a:solidFill>
                <a:latin typeface="Times New Roman" panose="02020603050405020304" pitchFamily="18" charset="0"/>
              </a:rPr>
              <a:t>empno</a:t>
            </a:r>
            <a:r>
              <a:rPr lang="en-US" sz="1800" b="0" i="0" u="none" strike="noStrike" baseline="0" dirty="0">
                <a:solidFill>
                  <a:srgbClr val="000000"/>
                </a:solidFill>
                <a:latin typeface="Times New Roman" panose="02020603050405020304" pitchFamily="18" charset="0"/>
              </a:rPr>
              <a:t> from emp where job ='Manager’);</a:t>
            </a:r>
          </a:p>
          <a:p>
            <a:pPr marL="0" indent="0">
              <a:buNone/>
            </a:pPr>
            <a:r>
              <a:rPr lang="en-US" sz="1800" b="1" i="0" u="none" strike="noStrike" baseline="0" dirty="0">
                <a:solidFill>
                  <a:srgbClr val="000000"/>
                </a:solidFill>
                <a:latin typeface="Times New Roman" panose="02020603050405020304" pitchFamily="18" charset="0"/>
              </a:rPr>
              <a:t>27. List the emps who joined in any year but not belongs to the month of March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not like ‘%MAR%’ ; </a:t>
            </a:r>
          </a:p>
          <a:p>
            <a:pPr marL="0" indent="0">
              <a:buNone/>
            </a:pPr>
            <a:r>
              <a:rPr lang="en-US" sz="1800" b="0" i="0" u="none" strike="noStrike" baseline="0" dirty="0">
                <a:solidFill>
                  <a:srgbClr val="000000"/>
                </a:solidFill>
                <a:latin typeface="Times New Roman" panose="02020603050405020304" pitchFamily="18" charset="0"/>
              </a:rPr>
              <a:t>28. </a:t>
            </a:r>
            <a:r>
              <a:rPr lang="en-US" sz="1800" b="1" i="0" u="none" strike="noStrike" baseline="0" dirty="0">
                <a:solidFill>
                  <a:srgbClr val="000000"/>
                </a:solidFill>
                <a:latin typeface="Times New Roman" panose="02020603050405020304" pitchFamily="18" charset="0"/>
              </a:rPr>
              <a:t>List the total information of emp table along with </a:t>
            </a:r>
            <a:r>
              <a:rPr lang="en-US" sz="1800" b="1" i="0" u="none" strike="noStrike" baseline="0" dirty="0" err="1">
                <a:solidFill>
                  <a:srgbClr val="000000"/>
                </a:solidFill>
                <a:latin typeface="Times New Roman" panose="02020603050405020304" pitchFamily="18" charset="0"/>
              </a:rPr>
              <a:t>dname</a:t>
            </a:r>
            <a:r>
              <a:rPr lang="en-US" sz="1800" b="1" i="0" u="none" strike="noStrike" baseline="0" dirty="0">
                <a:solidFill>
                  <a:srgbClr val="000000"/>
                </a:solidFill>
                <a:latin typeface="Times New Roman" panose="02020603050405020304" pitchFamily="18" charset="0"/>
              </a:rPr>
              <a:t> and loc of all the emps working under  ‘Accounting’ &amp; ‘Research’ in the </a:t>
            </a:r>
            <a:r>
              <a:rPr lang="en-US" sz="1800" b="1" i="0" u="none" strike="noStrike" baseline="0" dirty="0" err="1">
                <a:solidFill>
                  <a:srgbClr val="000000"/>
                </a:solidFill>
                <a:latin typeface="Times New Roman" panose="02020603050405020304" pitchFamily="18" charset="0"/>
              </a:rPr>
              <a:t>asc</a:t>
            </a:r>
            <a:r>
              <a:rPr lang="en-US" sz="1800" b="1" i="0" u="none" strike="noStrike" baseline="0" dirty="0">
                <a:solidFill>
                  <a:srgbClr val="000000"/>
                </a:solidFill>
                <a:latin typeface="Times New Roman" panose="02020603050405020304" pitchFamily="18" charset="0"/>
              </a:rPr>
              <a:t> </a:t>
            </a:r>
            <a:r>
              <a:rPr lang="en-US" sz="1800" b="1" i="0" u="none" strike="noStrike" baseline="0" dirty="0" err="1">
                <a:solidFill>
                  <a:srgbClr val="000000"/>
                </a:solidFill>
                <a:latin typeface="Times New Roman" panose="02020603050405020304" pitchFamily="18" charset="0"/>
              </a:rPr>
              <a:t>deptno</a:t>
            </a:r>
            <a:r>
              <a:rPr lang="en-US" sz="1800" b="1" i="0" u="none" strike="noStrike" baseline="0" dirty="0">
                <a:solidFill>
                  <a:srgbClr val="000000"/>
                </a:solidFill>
                <a:latin typeface="Times New Roman" panose="02020603050405020304" pitchFamily="18" charset="0"/>
              </a:rPr>
              <a:t> </a:t>
            </a:r>
            <a:endParaRPr lang="en-US"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select emp.*,</a:t>
            </a:r>
            <a:r>
              <a:rPr lang="en-US" sz="1800" b="0" i="0" u="none" strike="noStrike" baseline="0" dirty="0" err="1">
                <a:solidFill>
                  <a:srgbClr val="000000"/>
                </a:solidFill>
                <a:latin typeface="Times New Roman" panose="02020603050405020304" pitchFamily="18" charset="0"/>
              </a:rPr>
              <a:t>dname</a:t>
            </a:r>
            <a:r>
              <a:rPr lang="en-US" sz="1800" b="0" i="0" u="none" strike="noStrike" baseline="0" dirty="0">
                <a:solidFill>
                  <a:srgbClr val="000000"/>
                </a:solidFill>
                <a:latin typeface="Times New Roman" panose="02020603050405020304" pitchFamily="18" charset="0"/>
              </a:rPr>
              <a:t> from </a:t>
            </a:r>
            <a:r>
              <a:rPr lang="en-US" sz="1800" b="0" i="0" u="none" strike="noStrike" baseline="0" dirty="0" err="1">
                <a:solidFill>
                  <a:srgbClr val="000000"/>
                </a:solidFill>
                <a:latin typeface="Times New Roman" panose="02020603050405020304" pitchFamily="18" charset="0"/>
              </a:rPr>
              <a:t>emp,dept</a:t>
            </a:r>
            <a:r>
              <a:rPr lang="en-US" sz="1800" b="0" i="0" u="none" strike="noStrike" baseline="0" dirty="0">
                <a:solidFill>
                  <a:srgbClr val="000000"/>
                </a:solidFill>
                <a:latin typeface="Times New Roman" panose="02020603050405020304" pitchFamily="18" charset="0"/>
              </a:rPr>
              <a:t> where </a:t>
            </a:r>
            <a:r>
              <a:rPr lang="en-US" sz="1800" b="0" i="0" u="none" strike="noStrike" baseline="0" dirty="0" err="1">
                <a:solidFill>
                  <a:srgbClr val="000000"/>
                </a:solidFill>
                <a:latin typeface="Times New Roman" panose="02020603050405020304" pitchFamily="18" charset="0"/>
              </a:rPr>
              <a:t>dname</a:t>
            </a:r>
            <a:r>
              <a:rPr lang="en-US" sz="1800" b="0" i="0" u="none" strike="noStrike" baseline="0" dirty="0">
                <a:solidFill>
                  <a:srgbClr val="000000"/>
                </a:solidFill>
                <a:latin typeface="Times New Roman" panose="02020603050405020304" pitchFamily="18" charset="0"/>
              </a:rPr>
              <a:t> in ('d1','d2') and </a:t>
            </a:r>
            <a:r>
              <a:rPr lang="en-US" sz="1800" b="0" i="0" u="none" strike="noStrike" baseline="0" dirty="0" err="1">
                <a:solidFill>
                  <a:srgbClr val="000000"/>
                </a:solidFill>
                <a:latin typeface="Times New Roman" panose="02020603050405020304" pitchFamily="18" charset="0"/>
              </a:rPr>
              <a:t>emp.dno</a:t>
            </a:r>
            <a:r>
              <a:rPr lang="en-US" sz="1800" b="0" i="0" u="none" strike="noStrike" baseline="0" dirty="0">
                <a:solidFill>
                  <a:srgbClr val="000000"/>
                </a:solidFill>
                <a:latin typeface="Times New Roman" panose="02020603050405020304" pitchFamily="18" charset="0"/>
              </a:rPr>
              <a:t>=</a:t>
            </a:r>
            <a:r>
              <a:rPr lang="en-US" sz="1800" b="0" i="0" u="none" strike="noStrike" baseline="0" dirty="0" err="1">
                <a:solidFill>
                  <a:srgbClr val="000000"/>
                </a:solidFill>
                <a:latin typeface="Times New Roman" panose="02020603050405020304" pitchFamily="18" charset="0"/>
              </a:rPr>
              <a:t>dept.dnum</a:t>
            </a:r>
            <a:r>
              <a:rPr lang="en-US" sz="1800" b="0" i="0" u="none" strike="noStrike" baseline="0" dirty="0">
                <a:solidFill>
                  <a:srgbClr val="000000"/>
                </a:solidFill>
                <a:latin typeface="Times New Roman" panose="02020603050405020304" pitchFamily="18" charset="0"/>
              </a:rPr>
              <a:t> order by </a:t>
            </a:r>
            <a:r>
              <a:rPr lang="en-US" sz="1800" b="0" i="0" u="none" strike="noStrike" baseline="0" dirty="0" err="1">
                <a:solidFill>
                  <a:srgbClr val="000000"/>
                </a:solidFill>
                <a:latin typeface="Times New Roman" panose="02020603050405020304" pitchFamily="18" charset="0"/>
              </a:rPr>
              <a:t>emp.dno</a:t>
            </a:r>
            <a:r>
              <a:rPr lang="en-US"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Times New Roman" panose="02020603050405020304" pitchFamily="18" charset="0"/>
              </a:rPr>
              <a:t>	</a:t>
            </a:r>
          </a:p>
          <a:p>
            <a:endParaRPr lang="en-IN" dirty="0"/>
          </a:p>
        </p:txBody>
      </p:sp>
    </p:spTree>
    <p:extLst>
      <p:ext uri="{BB962C8B-B14F-4D97-AF65-F5344CB8AC3E}">
        <p14:creationId xmlns:p14="http://schemas.microsoft.com/office/powerpoint/2010/main" val="1850259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1450A-3896-461C-A00B-7B2511929A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99CE32-DD7E-AAE4-177A-DD9FFEF4DCF4}"/>
              </a:ext>
            </a:extLst>
          </p:cNvPr>
          <p:cNvSpPr>
            <a:spLocks noGrp="1"/>
          </p:cNvSpPr>
          <p:nvPr>
            <p:ph idx="1"/>
          </p:nvPr>
        </p:nvSpPr>
        <p:spPr/>
        <p:txBody>
          <a:bodyPr/>
          <a:lstStyle/>
          <a:p>
            <a:pPr marL="0" indent="0">
              <a:buNone/>
            </a:pPr>
            <a:r>
              <a:rPr lang="en-US" sz="1800" b="1" i="0" u="none" strike="noStrike" baseline="0" dirty="0">
                <a:solidFill>
                  <a:srgbClr val="000000"/>
                </a:solidFill>
                <a:latin typeface="Times New Roman" panose="02020603050405020304" pitchFamily="18" charset="0"/>
              </a:rPr>
              <a:t>29. List the details of the emps whose salaries more than the employee BLAKE </a:t>
            </a:r>
          </a:p>
          <a:p>
            <a:r>
              <a:rPr lang="en-US" sz="1800" b="0" i="0" u="none" strike="noStrike" baseline="0" dirty="0">
                <a:solidFill>
                  <a:srgbClr val="000000"/>
                </a:solidFill>
                <a:latin typeface="Times New Roman" panose="02020603050405020304" pitchFamily="18" charset="0"/>
              </a:rPr>
              <a:t>select A.* from emp A, emp B where </a:t>
            </a:r>
            <a:r>
              <a:rPr lang="en-US" sz="1800" b="0" i="0" u="none" strike="noStrike" baseline="0" dirty="0" err="1">
                <a:solidFill>
                  <a:srgbClr val="000000"/>
                </a:solidFill>
                <a:latin typeface="Times New Roman" panose="02020603050405020304" pitchFamily="18" charset="0"/>
              </a:rPr>
              <a:t>A.sal</a:t>
            </a:r>
            <a:r>
              <a:rPr lang="en-US" sz="1800" b="0" i="0" u="none" strike="noStrike" baseline="0" dirty="0">
                <a:solidFill>
                  <a:srgbClr val="000000"/>
                </a:solidFill>
                <a:latin typeface="Times New Roman" panose="02020603050405020304" pitchFamily="18" charset="0"/>
              </a:rPr>
              <a:t> &gt; </a:t>
            </a:r>
            <a:r>
              <a:rPr lang="en-US" sz="1800" b="0" i="0" u="none" strike="noStrike" baseline="0" dirty="0" err="1">
                <a:solidFill>
                  <a:srgbClr val="000000"/>
                </a:solidFill>
                <a:latin typeface="Times New Roman" panose="02020603050405020304" pitchFamily="18" charset="0"/>
              </a:rPr>
              <a:t>B.sal</a:t>
            </a:r>
            <a:r>
              <a:rPr lang="en-US" sz="1800" b="0" i="0" u="none" strike="noStrike" baseline="0" dirty="0">
                <a:solidFill>
                  <a:srgbClr val="000000"/>
                </a:solidFill>
                <a:latin typeface="Times New Roman" panose="02020603050405020304" pitchFamily="18" charset="0"/>
              </a:rPr>
              <a:t> and </a:t>
            </a:r>
            <a:r>
              <a:rPr lang="en-US" sz="1800" b="0" i="0" u="none" strike="noStrike" baseline="0" dirty="0" err="1">
                <a:solidFill>
                  <a:srgbClr val="000000"/>
                </a:solidFill>
                <a:latin typeface="Times New Roman" panose="02020603050405020304" pitchFamily="18" charset="0"/>
              </a:rPr>
              <a:t>B.ename</a:t>
            </a:r>
            <a:r>
              <a:rPr lang="en-US" sz="1800" b="0" i="0" u="none" strike="noStrike" baseline="0" dirty="0">
                <a:solidFill>
                  <a:srgbClr val="000000"/>
                </a:solidFill>
                <a:latin typeface="Times New Roman" panose="02020603050405020304" pitchFamily="18" charset="0"/>
              </a:rPr>
              <a:t> = ‘BLAKE’ </a:t>
            </a:r>
          </a:p>
          <a:p>
            <a:r>
              <a:rPr lang="en-IN" sz="1800" b="0" i="0" u="none" strike="noStrike" baseline="0" dirty="0">
                <a:solidFill>
                  <a:srgbClr val="000000"/>
                </a:solidFill>
                <a:latin typeface="Times New Roman" panose="02020603050405020304" pitchFamily="18" charset="0"/>
              </a:rPr>
              <a:t>OR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&gt; (select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from emp where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 ‘BLAKE’) </a:t>
            </a:r>
          </a:p>
          <a:p>
            <a:pPr marL="0" indent="0">
              <a:buNone/>
            </a:pPr>
            <a:r>
              <a:rPr lang="en-US" sz="1800" b="1" i="0" u="none" strike="noStrike" baseline="0" dirty="0">
                <a:solidFill>
                  <a:srgbClr val="000000"/>
                </a:solidFill>
                <a:latin typeface="Times New Roman" panose="02020603050405020304" pitchFamily="18" charset="0"/>
              </a:rPr>
              <a:t>30. List the details of the emps whose job is same as ALLEN. </a:t>
            </a:r>
          </a:p>
          <a:p>
            <a:r>
              <a:rPr lang="en-US" sz="1800" b="0" i="0" u="none" strike="noStrike" baseline="0" dirty="0">
                <a:solidFill>
                  <a:srgbClr val="000000"/>
                </a:solidFill>
                <a:latin typeface="Times New Roman" panose="02020603050405020304" pitchFamily="18" charset="0"/>
              </a:rPr>
              <a:t>select * from emp where job = (select job from emp where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 ‘ALLEN’) </a:t>
            </a:r>
          </a:p>
          <a:p>
            <a:pPr marL="0" indent="0">
              <a:buNone/>
            </a:pPr>
            <a:r>
              <a:rPr lang="en-US" sz="1800" b="1" i="0" u="none" strike="noStrike" baseline="0" dirty="0">
                <a:solidFill>
                  <a:srgbClr val="000000"/>
                </a:solidFill>
                <a:latin typeface="Times New Roman" panose="02020603050405020304" pitchFamily="18" charset="0"/>
              </a:rPr>
              <a:t>31. List the emps who are senior to King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&lt; (select </a:t>
            </a:r>
            <a:r>
              <a:rPr lang="en-US" sz="1800" b="0" i="0" u="none" strike="noStrike" baseline="0" dirty="0" err="1">
                <a:solidFill>
                  <a:srgbClr val="000000"/>
                </a:solidFill>
                <a:latin typeface="Times New Roman" panose="02020603050405020304" pitchFamily="18" charset="0"/>
              </a:rPr>
              <a:t>hiredate</a:t>
            </a:r>
            <a:r>
              <a:rPr lang="en-US" sz="1800" b="0" i="0" u="none" strike="noStrike" baseline="0" dirty="0">
                <a:solidFill>
                  <a:srgbClr val="000000"/>
                </a:solidFill>
                <a:latin typeface="Times New Roman" panose="02020603050405020304" pitchFamily="18" charset="0"/>
              </a:rPr>
              <a:t> from emp where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 ‘KING’) </a:t>
            </a:r>
          </a:p>
          <a:p>
            <a:pPr marL="0" indent="0">
              <a:buNone/>
            </a:pPr>
            <a:r>
              <a:rPr lang="en-US" sz="1800" b="1" i="0" u="none" strike="noStrike" baseline="0" dirty="0">
                <a:solidFill>
                  <a:srgbClr val="000000"/>
                </a:solidFill>
                <a:latin typeface="Times New Roman" panose="02020603050405020304" pitchFamily="18" charset="0"/>
              </a:rPr>
              <a:t>32. Display the name of the employee who is drawing maximum salary </a:t>
            </a:r>
          </a:p>
          <a:p>
            <a:r>
              <a:rPr lang="en-US" sz="1800" b="0" i="0" u="none" strike="noStrike" baseline="0" dirty="0">
                <a:solidFill>
                  <a:srgbClr val="000000"/>
                </a:solidFill>
                <a:latin typeface="Times New Roman" panose="02020603050405020304" pitchFamily="18" charset="0"/>
              </a:rPr>
              <a:t>Select </a:t>
            </a:r>
            <a:r>
              <a:rPr lang="en-US" sz="1800" b="0" i="0" u="none" strike="noStrike" baseline="0" dirty="0" err="1">
                <a:solidFill>
                  <a:srgbClr val="000000"/>
                </a:solidFill>
                <a:latin typeface="Times New Roman" panose="02020603050405020304" pitchFamily="18" charset="0"/>
              </a:rPr>
              <a:t>ename</a:t>
            </a:r>
            <a:r>
              <a:rPr lang="en-US" sz="1800" b="0" i="0" u="none" strike="noStrike" baseline="0" dirty="0">
                <a:solidFill>
                  <a:srgbClr val="000000"/>
                </a:solidFill>
                <a:latin typeface="Times New Roman" panose="02020603050405020304" pitchFamily="18" charset="0"/>
              </a:rPr>
              <a:t> from emp where </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in(select max(</a:t>
            </a:r>
            <a:r>
              <a:rPr lang="en-US" sz="1800" b="0" i="0" u="none" strike="noStrike" baseline="0" dirty="0" err="1">
                <a:solidFill>
                  <a:srgbClr val="000000"/>
                </a:solidFill>
                <a:latin typeface="Times New Roman" panose="02020603050405020304" pitchFamily="18" charset="0"/>
              </a:rPr>
              <a:t>sal</a:t>
            </a:r>
            <a:r>
              <a:rPr lang="en-US" sz="1800" b="0" i="0" u="none" strike="noStrike" baseline="0" dirty="0">
                <a:solidFill>
                  <a:srgbClr val="000000"/>
                </a:solidFill>
                <a:latin typeface="Times New Roman" panose="02020603050405020304" pitchFamily="18" charset="0"/>
              </a:rPr>
              <a:t>) from emp); 	</a:t>
            </a:r>
          </a:p>
          <a:p>
            <a:endParaRPr lang="en-IN" dirty="0"/>
          </a:p>
        </p:txBody>
      </p:sp>
    </p:spTree>
    <p:extLst>
      <p:ext uri="{BB962C8B-B14F-4D97-AF65-F5344CB8AC3E}">
        <p14:creationId xmlns:p14="http://schemas.microsoft.com/office/powerpoint/2010/main" val="3815560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461C0-D788-BB14-E690-F76DDAE000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8D8809-EAAD-9575-5F80-D996E4EFB7F3}"/>
              </a:ext>
            </a:extLst>
          </p:cNvPr>
          <p:cNvSpPr>
            <a:spLocks noGrp="1"/>
          </p:cNvSpPr>
          <p:nvPr>
            <p:ph idx="1"/>
          </p:nvPr>
        </p:nvSpPr>
        <p:spPr>
          <a:xfrm>
            <a:off x="953814" y="1794094"/>
            <a:ext cx="10515600" cy="4351338"/>
          </a:xfrm>
        </p:spPr>
        <p:txBody>
          <a:bodyPr/>
          <a:lstStyle/>
          <a:p>
            <a:pPr marL="0" indent="0">
              <a:buNone/>
            </a:pPr>
            <a:r>
              <a:rPr lang="en-US" sz="1800" b="1" i="0" u="none" strike="noStrike" baseline="0" dirty="0">
                <a:solidFill>
                  <a:srgbClr val="000000"/>
                </a:solidFill>
                <a:latin typeface="Times New Roman" panose="02020603050405020304" pitchFamily="18" charset="0"/>
              </a:rPr>
              <a:t>33. Display top 5 rows from a table </a:t>
            </a:r>
          </a:p>
          <a:p>
            <a:r>
              <a:rPr lang="en-US" sz="1800" b="0" i="0" u="none" strike="noStrike" baseline="0" dirty="0">
                <a:solidFill>
                  <a:srgbClr val="000000"/>
                </a:solidFill>
                <a:latin typeface="Times New Roman" panose="02020603050405020304" pitchFamily="18" charset="0"/>
              </a:rPr>
              <a:t>Select * from emp where </a:t>
            </a:r>
            <a:r>
              <a:rPr lang="en-US" sz="1800" b="0" i="0" u="none" strike="noStrike" baseline="0" dirty="0" err="1">
                <a:solidFill>
                  <a:srgbClr val="000000"/>
                </a:solidFill>
                <a:latin typeface="Times New Roman" panose="02020603050405020304" pitchFamily="18" charset="0"/>
              </a:rPr>
              <a:t>rownum</a:t>
            </a:r>
            <a:r>
              <a:rPr lang="en-US" sz="1800" b="0" i="0" u="none" strike="noStrike" baseline="0" dirty="0">
                <a:solidFill>
                  <a:srgbClr val="000000"/>
                </a:solidFill>
                <a:latin typeface="Times New Roman" panose="02020603050405020304" pitchFamily="18" charset="0"/>
              </a:rPr>
              <a:t>&lt;=5; </a:t>
            </a:r>
          </a:p>
          <a:p>
            <a:pPr marL="0" indent="0">
              <a:buNone/>
            </a:pPr>
            <a:r>
              <a:rPr lang="en-US" sz="1800" b="1" i="0" u="none" strike="noStrike" baseline="0" dirty="0">
                <a:solidFill>
                  <a:srgbClr val="000000"/>
                </a:solidFill>
                <a:latin typeface="Times New Roman" panose="02020603050405020304" pitchFamily="18" charset="0"/>
              </a:rPr>
              <a:t>34. List the </a:t>
            </a:r>
            <a:r>
              <a:rPr lang="en-US" sz="1800" b="1" i="0" u="none" strike="noStrike" baseline="0" dirty="0" err="1">
                <a:solidFill>
                  <a:srgbClr val="000000"/>
                </a:solidFill>
                <a:latin typeface="Times New Roman" panose="02020603050405020304" pitchFamily="18" charset="0"/>
              </a:rPr>
              <a:t>names,job,sal</a:t>
            </a:r>
            <a:r>
              <a:rPr lang="en-US" sz="1800" b="1" i="0" u="none" strike="noStrike" baseline="0" dirty="0">
                <a:solidFill>
                  <a:srgbClr val="000000"/>
                </a:solidFill>
                <a:latin typeface="Times New Roman" panose="02020603050405020304" pitchFamily="18" charset="0"/>
              </a:rPr>
              <a:t> , </a:t>
            </a:r>
            <a:r>
              <a:rPr lang="en-US" sz="1800" b="1" i="0" u="none" strike="noStrike" baseline="0" dirty="0" err="1">
                <a:solidFill>
                  <a:srgbClr val="000000"/>
                </a:solidFill>
                <a:latin typeface="Times New Roman" panose="02020603050405020304" pitchFamily="18" charset="0"/>
              </a:rPr>
              <a:t>dname</a:t>
            </a:r>
            <a:r>
              <a:rPr lang="en-US" sz="1800" b="1" i="0" u="none" strike="noStrike" baseline="0" dirty="0">
                <a:solidFill>
                  <a:srgbClr val="000000"/>
                </a:solidFill>
                <a:latin typeface="Times New Roman" panose="02020603050405020304" pitchFamily="18" charset="0"/>
              </a:rPr>
              <a:t> </a:t>
            </a:r>
            <a:r>
              <a:rPr lang="en-US" sz="1800" b="1" i="0" u="none" strike="noStrike" baseline="0" dirty="0" err="1">
                <a:solidFill>
                  <a:srgbClr val="000000"/>
                </a:solidFill>
                <a:latin typeface="Times New Roman" panose="02020603050405020304" pitchFamily="18" charset="0"/>
              </a:rPr>
              <a:t>deptwise</a:t>
            </a:r>
            <a:r>
              <a:rPr lang="en-US" sz="1800" b="1" i="0" u="none" strike="noStrike" baseline="0" dirty="0">
                <a:solidFill>
                  <a:srgbClr val="000000"/>
                </a:solidFill>
                <a:latin typeface="Times New Roman" panose="02020603050405020304" pitchFamily="18" charset="0"/>
              </a:rPr>
              <a:t> </a:t>
            </a:r>
          </a:p>
          <a:p>
            <a:r>
              <a:rPr lang="en-IN" sz="1800" b="0" i="0" u="none" strike="noStrike" baseline="0" dirty="0">
                <a:solidFill>
                  <a:srgbClr val="000000"/>
                </a:solidFill>
                <a:latin typeface="Times New Roman" panose="02020603050405020304" pitchFamily="18" charset="0"/>
              </a:rPr>
              <a:t>Select </a:t>
            </a:r>
            <a:r>
              <a:rPr lang="en-IN" sz="1800" b="0" i="0" u="none" strike="noStrike" baseline="0" dirty="0" err="1">
                <a:solidFill>
                  <a:srgbClr val="000000"/>
                </a:solidFill>
                <a:latin typeface="Times New Roman" panose="02020603050405020304" pitchFamily="18" charset="0"/>
              </a:rPr>
              <a:t>e.ename,e.job</a:t>
            </a:r>
            <a:r>
              <a:rPr lang="en-IN" sz="1800" b="0" i="0" u="none" strike="noStrike" baseline="0" dirty="0">
                <a:solidFill>
                  <a:srgbClr val="000000"/>
                </a:solidFill>
                <a:latin typeface="Times New Roman" panose="02020603050405020304" pitchFamily="18" charset="0"/>
              </a:rPr>
              <a:t>, </a:t>
            </a:r>
            <a:r>
              <a:rPr lang="en-IN" sz="1800" b="0" i="0" u="none" strike="noStrike" baseline="0" dirty="0" err="1">
                <a:solidFill>
                  <a:srgbClr val="000000"/>
                </a:solidFill>
                <a:latin typeface="Times New Roman" panose="02020603050405020304" pitchFamily="18" charset="0"/>
              </a:rPr>
              <a:t>e.sal,d.dname</a:t>
            </a:r>
            <a:r>
              <a:rPr lang="en-IN" sz="1800" b="0" i="0" u="none" strike="noStrike" baseline="0" dirty="0">
                <a:solidFill>
                  <a:srgbClr val="000000"/>
                </a:solidFill>
                <a:latin typeface="Times New Roman" panose="02020603050405020304" pitchFamily="18" charset="0"/>
              </a:rPr>
              <a:t> from emp e, dept d where </a:t>
            </a:r>
            <a:r>
              <a:rPr lang="en-IN" sz="1800" b="0" i="0" u="none" strike="noStrike" baseline="0" dirty="0" err="1">
                <a:solidFill>
                  <a:srgbClr val="000000"/>
                </a:solidFill>
                <a:latin typeface="Times New Roman" panose="02020603050405020304" pitchFamily="18" charset="0"/>
              </a:rPr>
              <a:t>e.deptno</a:t>
            </a:r>
            <a:r>
              <a:rPr lang="en-IN" sz="1800" b="0" i="0" u="none" strike="noStrike" baseline="0" dirty="0">
                <a:solidFill>
                  <a:srgbClr val="000000"/>
                </a:solidFill>
                <a:latin typeface="Times New Roman" panose="02020603050405020304" pitchFamily="18" charset="0"/>
              </a:rPr>
              <a:t> =</a:t>
            </a:r>
            <a:r>
              <a:rPr lang="en-IN" sz="1800" b="0" i="0" u="none" strike="noStrike" baseline="0" dirty="0" err="1">
                <a:solidFill>
                  <a:srgbClr val="000000"/>
                </a:solidFill>
                <a:latin typeface="Times New Roman" panose="02020603050405020304" pitchFamily="18" charset="0"/>
              </a:rPr>
              <a:t>d.deptno</a:t>
            </a:r>
            <a:r>
              <a:rPr lang="en-IN" sz="1800" b="0" i="0" u="none" strike="noStrike" baseline="0" dirty="0">
                <a:solidFill>
                  <a:srgbClr val="000000"/>
                </a:solidFill>
                <a:latin typeface="Times New Roman" panose="02020603050405020304" pitchFamily="18" charset="0"/>
              </a:rPr>
              <a:t> order by </a:t>
            </a:r>
            <a:r>
              <a:rPr lang="en-IN" sz="1800" b="0" i="0" u="none" strike="noStrike" baseline="0" dirty="0" err="1">
                <a:solidFill>
                  <a:srgbClr val="000000"/>
                </a:solidFill>
                <a:latin typeface="Times New Roman" panose="02020603050405020304" pitchFamily="18" charset="0"/>
              </a:rPr>
              <a:t>e.deptno</a:t>
            </a:r>
            <a:r>
              <a:rPr lang="en-IN" sz="1800" b="0" i="0" u="none" strike="noStrike" baseline="0" dirty="0">
                <a:solidFill>
                  <a:srgbClr val="000000"/>
                </a:solidFill>
                <a:latin typeface="Times New Roman" panose="02020603050405020304" pitchFamily="18" charset="0"/>
              </a:rPr>
              <a:t>; 	</a:t>
            </a:r>
          </a:p>
          <a:p>
            <a:endParaRPr lang="en-IN" dirty="0"/>
          </a:p>
        </p:txBody>
      </p:sp>
    </p:spTree>
    <p:extLst>
      <p:ext uri="{BB962C8B-B14F-4D97-AF65-F5344CB8AC3E}">
        <p14:creationId xmlns:p14="http://schemas.microsoft.com/office/powerpoint/2010/main" val="98276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3914</TotalTime>
  <Words>4194</Words>
  <Application>Microsoft Office PowerPoint</Application>
  <PresentationFormat>Widescreen</PresentationFormat>
  <Paragraphs>282</Paragraphs>
  <Slides>42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42</vt:i4>
      </vt:variant>
    </vt:vector>
  </HeadingPairs>
  <TitlesOfParts>
    <vt:vector size="54" baseType="lpstr">
      <vt:lpstr>AkzidenzGroteskBE-Bold</vt:lpstr>
      <vt:lpstr>AkzidenzGroteskBE-Md</vt:lpstr>
      <vt:lpstr>Arial</vt:lpstr>
      <vt:lpstr>Calibri</vt:lpstr>
      <vt:lpstr>Calibri Light</vt:lpstr>
      <vt:lpstr>Courier New</vt:lpstr>
      <vt:lpstr>Google Sans</vt:lpstr>
      <vt:lpstr>Manrope</vt:lpstr>
      <vt:lpstr>MinionPro-Bold</vt:lpstr>
      <vt:lpstr>MinionPro-Regular</vt:lpstr>
      <vt:lpstr>Times New Roman</vt:lpstr>
      <vt:lpstr>Office Theme</vt:lpstr>
      <vt:lpstr>Basic SQL Queries</vt:lpstr>
      <vt:lpstr>Data-types  based SQL Queries: int, number, integer, smallint, float, decimal</vt:lpstr>
      <vt:lpstr>Data-types  based SQL Queries:  char, varchar, clob, raw, bit, blob</vt:lpstr>
      <vt:lpstr>Data-types  based SQL Queries: date, timestamp, time interval</vt:lpstr>
      <vt:lpstr>Specifying Constraints in SQL statements</vt:lpstr>
      <vt:lpstr>Constraints in Create statement</vt:lpstr>
      <vt:lpstr>On delete set null, on delete set default, on update cascade</vt:lpstr>
      <vt:lpstr>Aggregate functions: max, min, avg, sum, count</vt:lpstr>
      <vt:lpstr>Select with where conditions</vt:lpstr>
      <vt:lpstr>Group by order by</vt:lpstr>
      <vt:lpstr>Group by and order by</vt:lpstr>
      <vt:lpstr>The SELECT-FROM-WHERE Structure of Basic SQL Queries</vt:lpstr>
      <vt:lpstr>QUERY 1: Retrieve the name and address of all employees who work for the 'Research' department.  </vt:lpstr>
      <vt:lpstr>Query 2. For every project located in ‘Stafford’, list the project number, the controlling department number, and the department manager’s last name, address, and birth date.</vt:lpstr>
      <vt:lpstr>Ambiguous Attribute Names, Aliasing, Renaming, and Tuple Variables</vt:lpstr>
      <vt:lpstr>More queries: Select with where conditions combining two tables</vt:lpstr>
      <vt:lpstr>Ambiguous Attribute Names, Aliasing, and Tuple Variables</vt:lpstr>
      <vt:lpstr>Unspecified WHERE Clause and Use of the Asterisk</vt:lpstr>
      <vt:lpstr>Tables as Sets in SQL</vt:lpstr>
      <vt:lpstr>Tables as Sets in SQL</vt:lpstr>
      <vt:lpstr>Substring Pattern Matching and Arithmetic Operators</vt:lpstr>
      <vt:lpstr>Substring Pattern Matching and Arithmetic Operators</vt:lpstr>
      <vt:lpstr>In and Exists operator</vt:lpstr>
      <vt:lpstr>Where and Having clause</vt:lpstr>
      <vt:lpstr>Substring Pattern Matching and Arithmetic Operators</vt:lpstr>
      <vt:lpstr>Ordering of Query Results</vt:lpstr>
      <vt:lpstr>INSERT, DELETE, AND UPDATE STATEMENTS IN SQL</vt:lpstr>
      <vt:lpstr>Delete command</vt:lpstr>
      <vt:lpstr>Update Command</vt:lpstr>
      <vt:lpstr>PowerPoint Presentation</vt:lpstr>
      <vt:lpstr>Explanation</vt:lpstr>
      <vt:lpstr>PowerPoint Presentation</vt:lpstr>
      <vt:lpstr>Lab experiment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Rashmi S R</dc:creator>
  <cp:lastModifiedBy>Rashmi S R</cp:lastModifiedBy>
  <cp:revision>48</cp:revision>
  <dcterms:created xsi:type="dcterms:W3CDTF">2025-03-09T14:01:17Z</dcterms:created>
  <dcterms:modified xsi:type="dcterms:W3CDTF">2025-03-20T07:35:32Z</dcterms:modified>
</cp:coreProperties>
</file>